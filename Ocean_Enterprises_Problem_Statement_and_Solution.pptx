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cean-enterprises.vercel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cean-enterprises.vercel.app/docs" TargetMode="External"/><Relationship Id="rId3" Type="http://schemas.openxmlformats.org/officeDocument/2006/relationships/hyperlink" Target="https://github.com/alicharolia7869/ocean-enterprise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50608" y="18288"/>
            <a:ext cx="4983480" cy="4983480"/>
          </a:xfrm>
          <a:prstGeom prst="ellipse">
            <a:avLst/>
          </a:prstGeom>
          <a:solidFill>
            <a:srgbClr val="0D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26679" y="274320"/>
            <a:ext cx="4297680" cy="4297680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75320" y="841248"/>
            <a:ext cx="3246120" cy="324612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87968" y="1444752"/>
            <a:ext cx="2029968" cy="2029968"/>
          </a:xfrm>
          <a:prstGeom prst="ellipse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7132320" y="3694176"/>
            <a:ext cx="4389120" cy="374904"/>
          </a:xfrm>
          <a:prstGeom prst="line">
            <a:avLst/>
          </a:prstGeom>
          <a:ln w="15240">
            <a:solidFill>
              <a:srgbClr val="1F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132320" y="3941064"/>
            <a:ext cx="4389120" cy="374904"/>
          </a:xfrm>
          <a:prstGeom prst="line">
            <a:avLst/>
          </a:prstGeom>
          <a:ln w="15240">
            <a:solidFill>
              <a:srgbClr val="14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132320" y="4187952"/>
            <a:ext cx="4389120" cy="374904"/>
          </a:xfrm>
          <a:prstGeom prst="line">
            <a:avLst/>
          </a:prstGeom>
          <a:ln w="15240">
            <a:solidFill>
              <a:srgbClr val="1F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132320" y="4434840"/>
            <a:ext cx="4389120" cy="374904"/>
          </a:xfrm>
          <a:prstGeom prst="line">
            <a:avLst/>
          </a:prstGeom>
          <a:ln w="15240">
            <a:solidFill>
              <a:srgbClr val="14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132320" y="4681728"/>
            <a:ext cx="4389120" cy="374904"/>
          </a:xfrm>
          <a:prstGeom prst="line">
            <a:avLst/>
          </a:prstGeom>
          <a:ln w="15240">
            <a:solidFill>
              <a:srgbClr val="1F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543800" y="4965192"/>
            <a:ext cx="1088136" cy="384048"/>
          </a:xfrm>
          <a:prstGeom prst="line">
            <a:avLst/>
          </a:prstGeom>
          <a:ln w="20320">
            <a:solidFill>
              <a:srgbClr val="448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31936" y="4965192"/>
            <a:ext cx="1106424" cy="502920"/>
          </a:xfrm>
          <a:prstGeom prst="line">
            <a:avLst/>
          </a:prstGeom>
          <a:ln w="20320">
            <a:solidFill>
              <a:srgbClr val="448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38360" y="4910328"/>
            <a:ext cx="1106424" cy="557784"/>
          </a:xfrm>
          <a:prstGeom prst="line">
            <a:avLst/>
          </a:prstGeom>
          <a:ln w="20320">
            <a:solidFill>
              <a:srgbClr val="448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61504" y="5266944"/>
            <a:ext cx="164592" cy="164592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49640" y="4882896"/>
            <a:ext cx="164592" cy="164592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56064" y="5385816"/>
            <a:ext cx="164592" cy="164592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62488" y="4828032"/>
            <a:ext cx="164592" cy="164592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868680"/>
            <a:ext cx="68580" cy="5102352"/>
          </a:xfrm>
          <a:prstGeom prst="rect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932688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C7D3"/>
                </a:solidFill>
                <a:latin typeface="Aptos Display"/>
              </a:rPr>
              <a:t>OCEAN ENTERPRISES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1517904"/>
            <a:ext cx="6217920" cy="1572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 Display"/>
              </a:rPr>
              <a:t>Problem Statement
&amp; Proposed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364992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DDEB"/>
                </a:solidFill>
                <a:latin typeface="Aptos"/>
              </a:rPr>
              <a:t>Business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096512"/>
            <a:ext cx="5943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Aptos"/>
              </a:rPr>
              <a:t>WATER SUPPLY  •  BEVERAGE DISTRIBUTION
ORDERS  •  DISPATCH  •  INVENTORY  •  CUSTOMER LEDGERS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24128" y="4937760"/>
            <a:ext cx="5468112" cy="0"/>
          </a:xfrm>
          <a:prstGeom prst="line">
            <a:avLst/>
          </a:prstGeom>
          <a:ln w="12700">
            <a:solidFill>
              <a:srgbClr val="27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4128" y="5193792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C7D3"/>
                </a:solidFill>
                <a:latin typeface="Aptos"/>
              </a:rPr>
              <a:t>LIVE 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148072"/>
            <a:ext cx="347472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ptos"/>
                <a:hlinkClick r:id="rId2"/>
              </a:rPr>
              <a:t>ocean-enterprises.vercel.app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6099048"/>
            <a:ext cx="539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9B4C8"/>
                </a:solidFill>
                <a:latin typeface="Aptos"/>
              </a:rPr>
              <a:t>DOCUMENTATION-BASED PROJECT PRESENTATION  •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3928" y="6089904"/>
            <a:ext cx="640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EXECUTIVE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02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1840991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A business management system for the day-to-day work of water supply and beverage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75104"/>
            <a:ext cx="3749039" cy="3858768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286000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"/>
              </a:rPr>
              <a:t>THE CORE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06624"/>
            <a:ext cx="3182112" cy="1591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Bring key
distribution tasks
into one clearer
operating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4919472"/>
            <a:ext cx="2999232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3D8E7"/>
                </a:solidFill>
                <a:latin typeface="Aptos"/>
              </a:rPr>
              <a:t>Capture records • coordinate delivery • track balances • review reports</a:t>
            </a:r>
          </a:p>
        </p:txBody>
      </p:sp>
      <p:sp>
        <p:nvSpPr>
          <p:cNvPr id="15" name="Oval 14"/>
          <p:cNvSpPr/>
          <p:nvPr/>
        </p:nvSpPr>
        <p:spPr>
          <a:xfrm>
            <a:off x="4956048" y="2112264"/>
            <a:ext cx="393192" cy="393192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2217420"/>
            <a:ext cx="393192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084832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7192B"/>
                </a:solidFill>
                <a:latin typeface="Aptos Display"/>
              </a:rPr>
              <a:t>PRODUCTS &amp;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1264" y="2368296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F7587"/>
                </a:solidFill>
                <a:latin typeface="Aptos"/>
              </a:rPr>
              <a:t>Water and beverage order workflows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32120" y="2798064"/>
            <a:ext cx="5623560" cy="0"/>
          </a:xfrm>
          <a:prstGeom prst="line">
            <a:avLst/>
          </a:prstGeom>
          <a:ln w="889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956048" y="3044952"/>
            <a:ext cx="393192" cy="393192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3150108"/>
            <a:ext cx="393192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017520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7192B"/>
                </a:solidFill>
                <a:latin typeface="Aptos Display"/>
              </a:rPr>
              <a:t>DELIVERY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3300984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F7587"/>
                </a:solidFill>
                <a:latin typeface="Aptos"/>
              </a:rPr>
              <a:t>Water entries, dispatch stages and route map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32120" y="3730752"/>
            <a:ext cx="5623560" cy="0"/>
          </a:xfrm>
          <a:prstGeom prst="line">
            <a:avLst/>
          </a:prstGeom>
          <a:ln w="889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956048" y="3977639"/>
            <a:ext cx="393192" cy="393192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4082796"/>
            <a:ext cx="393192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950207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7192B"/>
                </a:solidFill>
                <a:latin typeface="Aptos Display"/>
              </a:rPr>
              <a:t>FINANCIAL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423367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F7587"/>
                </a:solidFill>
                <a:latin typeface="Aptos"/>
              </a:rPr>
              <a:t>Payments, customer balances and receivables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32120" y="4663440"/>
            <a:ext cx="5623560" cy="0"/>
          </a:xfrm>
          <a:prstGeom prst="line">
            <a:avLst/>
          </a:prstGeom>
          <a:ln w="889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956048" y="4910328"/>
            <a:ext cx="393192" cy="393192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5015484"/>
            <a:ext cx="393192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882896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7192B"/>
                </a:solidFill>
                <a:latin typeface="Aptos Display"/>
              </a:rPr>
              <a:t>CONTROL &amp;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516636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F7587"/>
                </a:solidFill>
                <a:latin typeface="Aptos"/>
              </a:rPr>
              <a:t>Inventory, reports and CSV/print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PROBLEM STATEMENT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03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2761488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The documented system capabilities point to several operational challenges this solution is designed to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65960"/>
            <a:ext cx="10680192" cy="749808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1498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FFFFFF"/>
                </a:solidFill>
                <a:latin typeface="Aptos Display"/>
              </a:rPr>
              <a:t>How can a distribution business keep delivery records, orders, stock and customer payments coordinated and reviewable in one workflow?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" y="3076956"/>
            <a:ext cx="3456432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3035808"/>
            <a:ext cx="3456432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3172968"/>
            <a:ext cx="50292" cy="804671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" y="3200400"/>
            <a:ext cx="384048" cy="384048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296412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3200400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Scattered operational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621024"/>
            <a:ext cx="3026663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2B3D"/>
                </a:solidFill>
                <a:latin typeface="Aptos"/>
              </a:rPr>
              <a:t>Water entries, multi-item orders, customer history and reports need coordinated handling.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1708" y="3076956"/>
            <a:ext cx="3456432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9704" y="3035808"/>
            <a:ext cx="3456432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9704" y="3172968"/>
            <a:ext cx="50292" cy="804671"/>
          </a:xfrm>
          <a:prstGeom prst="rect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90872" y="3200400"/>
            <a:ext cx="384048" cy="384048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296412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200400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Limited dispatch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621024"/>
            <a:ext cx="3026663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2B3D"/>
                </a:solidFill>
                <a:latin typeface="Aptos"/>
              </a:rPr>
              <a:t>Delivery stages, stop ordering and route navigation must be managed during fulfilment.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1604" y="3076956"/>
            <a:ext cx="3200400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3035808"/>
            <a:ext cx="32004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172968"/>
            <a:ext cx="50292" cy="804671"/>
          </a:xfrm>
          <a:prstGeom prst="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30768" y="3200400"/>
            <a:ext cx="384048" cy="384048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8" y="3296412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3200400"/>
            <a:ext cx="23042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Payment tracking complexity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3621024"/>
            <a:ext cx="277063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2B3D"/>
                </a:solidFill>
                <a:latin typeface="Aptos"/>
              </a:rPr>
              <a:t>Partial payments and unpaid balances require clear allocation and review.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" y="4384548"/>
            <a:ext cx="3456432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9808" y="4343400"/>
            <a:ext cx="3456432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8" y="4480560"/>
            <a:ext cx="50292" cy="804671"/>
          </a:xfrm>
          <a:prstGeom prst="rect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0976" y="4507992"/>
            <a:ext cx="384048" cy="384048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46040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2184" y="450799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Stock accuracy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" y="4928616"/>
            <a:ext cx="3026663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2B3D"/>
                </a:solidFill>
                <a:latin typeface="Aptos"/>
              </a:rPr>
              <a:t>Order and water-entry lifecycle actions can affect inventory records.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1708" y="4384548"/>
            <a:ext cx="3456432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89704" y="4343400"/>
            <a:ext cx="3456432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9704" y="4480560"/>
            <a:ext cx="50292" cy="804671"/>
          </a:xfrm>
          <a:prstGeom prst="rect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90872" y="4507992"/>
            <a:ext cx="384048" cy="384048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0872" y="46040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50799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Manual order interpretation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4928616"/>
            <a:ext cx="3026663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2B3D"/>
                </a:solidFill>
                <a:latin typeface="Aptos"/>
              </a:rPr>
              <a:t>WhatsApp order text needs parsing and human verification before acceptance.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61604" y="4384548"/>
            <a:ext cx="3200400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29600" y="4343400"/>
            <a:ext cx="32004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4480560"/>
            <a:ext cx="50292" cy="804671"/>
          </a:xfrm>
          <a:prstGeom prst="rect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30768" y="4507992"/>
            <a:ext cx="384048" cy="384048"/>
          </a:xfrm>
          <a:prstGeom prst="ellipse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0768" y="46040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51976" y="4507992"/>
            <a:ext cx="23042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Reconciliation effort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928616"/>
            <a:ext cx="277063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2B3D"/>
                </a:solidFill>
                <a:latin typeface="Aptos"/>
              </a:rPr>
              <a:t>Reports and receivable reviews should help operators check records and outstanding balances.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5907024"/>
            <a:ext cx="1051560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5F7587"/>
                </a:solidFill>
                <a:latin typeface="Aptos"/>
              </a:rPr>
              <a:t>Scope note: the problem framing is synthesized from the supplied documentation; it is not a measured audit of current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OPERATIONAL IMPACT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04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3681983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Why These Problems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When everyday records are hard to coordinate, teams may face avoidable friction across the operating 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20574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72768" y="2084831"/>
            <a:ext cx="548640" cy="548640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2253996"/>
            <a:ext cx="5486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61488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 Display"/>
              </a:rP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090672"/>
            <a:ext cx="18013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7587"/>
                </a:solidFill>
                <a:latin typeface="Aptos"/>
              </a:rPr>
              <a:t>Customer, quantity, rate and payment details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44368" y="2971800"/>
            <a:ext cx="621791" cy="0"/>
          </a:xfrm>
          <a:prstGeom prst="line">
            <a:avLst/>
          </a:prstGeom>
          <a:ln w="1905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>
            <a:off x="3419855" y="2852928"/>
            <a:ext cx="219456" cy="228600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75887" y="2331720"/>
            <a:ext cx="20574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25696" y="2084831"/>
            <a:ext cx="548640" cy="54864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253996"/>
            <a:ext cx="5486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2761488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 Display"/>
              </a:rPr>
              <a:t>FULFIL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3" y="3090672"/>
            <a:ext cx="18013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7587"/>
                </a:solidFill>
                <a:latin typeface="Aptos"/>
              </a:rPr>
              <a:t>Orders, delivery status and route sequence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97296" y="2971800"/>
            <a:ext cx="621792" cy="0"/>
          </a:xfrm>
          <a:prstGeom prst="line">
            <a:avLst/>
          </a:prstGeom>
          <a:ln w="1905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6272783" y="2852928"/>
            <a:ext cx="219456" cy="228600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28816" y="2331720"/>
            <a:ext cx="20574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78624" y="2084831"/>
            <a:ext cx="548640" cy="548640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8624" y="2253996"/>
            <a:ext cx="5486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2761488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 Display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1" y="3090672"/>
            <a:ext cx="18013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7587"/>
                </a:solidFill>
                <a:latin typeface="Aptos"/>
              </a:rPr>
              <a:t>Stock changes and payment allocation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50224" y="2971800"/>
            <a:ext cx="621792" cy="0"/>
          </a:xfrm>
          <a:prstGeom prst="line">
            <a:avLst/>
          </a:prstGeom>
          <a:ln w="1905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9125712" y="2852928"/>
            <a:ext cx="219456" cy="228600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81744" y="2331720"/>
            <a:ext cx="20574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1552" y="2084831"/>
            <a:ext cx="548640" cy="548640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1552" y="2253996"/>
            <a:ext cx="5486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0616" y="2761488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 Display"/>
              </a:rPr>
              <a:t>RECONCILE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090672"/>
            <a:ext cx="18013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7587"/>
                </a:solidFill>
                <a:latin typeface="Aptos"/>
              </a:rPr>
              <a:t>Receivables, reports and exports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" y="4293108"/>
            <a:ext cx="3429000" cy="1234440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" y="4251960"/>
            <a:ext cx="34290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4389120"/>
            <a:ext cx="50292" cy="960120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4128" y="4416552"/>
            <a:ext cx="384048" cy="384048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" y="451256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45336" y="4416552"/>
            <a:ext cx="25328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Incomplete records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" y="4837176"/>
            <a:ext cx="299923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Can make customer history harder to follow.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49724" y="4293108"/>
            <a:ext cx="3429000" cy="1234440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17720" y="4251960"/>
            <a:ext cx="34290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17720" y="4389120"/>
            <a:ext cx="50292" cy="960120"/>
          </a:xfrm>
          <a:prstGeom prst="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18888" y="4416552"/>
            <a:ext cx="384048" cy="384048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18888" y="451256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0096" y="4416552"/>
            <a:ext cx="25328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Delayed decisions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37176" y="4837176"/>
            <a:ext cx="299923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Unclear dispatch or stock information can slow action.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44484" y="4293108"/>
            <a:ext cx="3429000" cy="1234440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412480" y="4251960"/>
            <a:ext cx="34290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0" y="4389120"/>
            <a:ext cx="50292" cy="960120"/>
          </a:xfrm>
          <a:prstGeom prst="rect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613648" y="4416552"/>
            <a:ext cx="384048" cy="384048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13648" y="451256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4856" y="4416552"/>
            <a:ext cx="25328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Reconciliation effort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31936" y="4837176"/>
            <a:ext cx="299923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Payment and report checks can require more manual review.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" y="5888736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5F7587"/>
                </a:solidFill>
                <a:latin typeface="Aptos"/>
              </a:rPr>
              <a:t>These are potential operational risks addressed by the design—not quantified outcomes or proof of current business losses.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OBJECTIVES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05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4602480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Turn the problem statement into clear, practical system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" y="2144268"/>
            <a:ext cx="3401568" cy="1408176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2103120"/>
            <a:ext cx="3401568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" y="2240279"/>
            <a:ext cx="50292" cy="1133856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2267712"/>
            <a:ext cx="384048" cy="384048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36372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267712"/>
            <a:ext cx="25054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Centralize key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2688336"/>
            <a:ext cx="2971800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42B3D"/>
                </a:solidFill>
                <a:latin typeface="Aptos"/>
              </a:rPr>
              <a:t>Connect water entries, orders, customers, payments, inventory and reporting.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8284" y="2144268"/>
            <a:ext cx="3401568" cy="1408176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6280" y="2103120"/>
            <a:ext cx="3401568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2240279"/>
            <a:ext cx="50292" cy="1133856"/>
          </a:xfrm>
          <a:prstGeom prst="rect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27448" y="2267712"/>
            <a:ext cx="384048" cy="384048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36372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267712"/>
            <a:ext cx="25054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Improve delivery coordination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5736" y="2688336"/>
            <a:ext cx="2971800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42B3D"/>
                </a:solidFill>
                <a:latin typeface="Aptos"/>
              </a:rPr>
              <a:t>Track delivery stages and organize stops using the documented route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5612" y="2144268"/>
            <a:ext cx="3401568" cy="1408176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93608" y="2103120"/>
            <a:ext cx="3401568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93608" y="2240279"/>
            <a:ext cx="50292" cy="1133856"/>
          </a:xfrm>
          <a:prstGeom prst="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94776" y="2267712"/>
            <a:ext cx="384048" cy="384048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236372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2267712"/>
            <a:ext cx="2505455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Support payment clarity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064" y="2688336"/>
            <a:ext cx="2971800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42B3D"/>
                </a:solidFill>
                <a:latin typeface="Aptos"/>
              </a:rPr>
              <a:t>Represent partial payments and allocate general payments using the documented FIFO rule.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" y="3826763"/>
            <a:ext cx="3401568" cy="1408176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8952" y="3785615"/>
            <a:ext cx="3401568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" y="3922776"/>
            <a:ext cx="50292" cy="1133856"/>
          </a:xfrm>
          <a:prstGeom prst="rect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0120" y="3950207"/>
            <a:ext cx="384048" cy="384048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046220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3950207"/>
            <a:ext cx="25054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Keep stock changes traceable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7" y="4370831"/>
            <a:ext cx="2971800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42B3D"/>
                </a:solidFill>
                <a:latin typeface="Aptos"/>
              </a:rPr>
              <a:t>Update stock through supported order and water-entry lifecycle actions.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58284" y="3826763"/>
            <a:ext cx="3401568" cy="1408176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26280" y="3785615"/>
            <a:ext cx="3401568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26280" y="3922776"/>
            <a:ext cx="50292" cy="1133856"/>
          </a:xfrm>
          <a:prstGeom prst="rect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27448" y="3950207"/>
            <a:ext cx="384048" cy="384048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27448" y="4046220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48656" y="3950207"/>
            <a:ext cx="25054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Make records reviewable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45736" y="4370831"/>
            <a:ext cx="2971800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42B3D"/>
                </a:solidFill>
                <a:latin typeface="Aptos"/>
              </a:rPr>
              <a:t>Verify parsed WhatsApp items and review reports before relying on them.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5612" y="3826763"/>
            <a:ext cx="3401568" cy="1408176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93608" y="3785615"/>
            <a:ext cx="3401568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93608" y="3922776"/>
            <a:ext cx="50292" cy="1133856"/>
          </a:xfrm>
          <a:prstGeom prst="rect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94776" y="3950207"/>
            <a:ext cx="384048" cy="384048"/>
          </a:xfrm>
          <a:prstGeom prst="ellipse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94776" y="4046220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15984" y="3950207"/>
            <a:ext cx="2505455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Support safe operation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13064" y="4370831"/>
            <a:ext cx="2971800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42B3D"/>
                </a:solidFill>
                <a:latin typeface="Aptos"/>
              </a:rPr>
              <a:t>Protect credentials, customer/payment details and destructive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PROPOSED 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06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5522976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A single business management workspace supported by operational modules and technical documentation.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04487" y="2075688"/>
            <a:ext cx="4343400" cy="82296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249424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7D3"/>
                </a:solidFill>
                <a:latin typeface="Aptos Display"/>
              </a:rPr>
              <a:t>OCEAN ENTERPRISES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523744"/>
            <a:ext cx="3840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Aptos"/>
              </a:rPr>
              <a:t>Business Management System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71616" y="2907792"/>
            <a:ext cx="0" cy="201168"/>
          </a:xfrm>
          <a:prstGeom prst="line">
            <a:avLst/>
          </a:prstGeom>
          <a:ln w="1524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40864" y="3108960"/>
            <a:ext cx="7461504" cy="0"/>
          </a:xfrm>
          <a:prstGeom prst="line">
            <a:avLst/>
          </a:prstGeom>
          <a:ln w="1524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40864" y="3108960"/>
            <a:ext cx="0" cy="310896"/>
          </a:xfrm>
          <a:prstGeom prst="line">
            <a:avLst/>
          </a:prstGeom>
          <a:ln w="1270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40864" y="4507992"/>
            <a:ext cx="0" cy="283464"/>
          </a:xfrm>
          <a:prstGeom prst="line">
            <a:avLst/>
          </a:prstGeom>
          <a:ln w="12700">
            <a:solidFill>
              <a:srgbClr val="AAC1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9904" y="3108960"/>
            <a:ext cx="0" cy="310896"/>
          </a:xfrm>
          <a:prstGeom prst="line">
            <a:avLst/>
          </a:prstGeom>
          <a:ln w="1270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9904" y="4507992"/>
            <a:ext cx="0" cy="283464"/>
          </a:xfrm>
          <a:prstGeom prst="line">
            <a:avLst/>
          </a:prstGeom>
          <a:ln w="12700">
            <a:solidFill>
              <a:srgbClr val="AAC1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38944" y="3108960"/>
            <a:ext cx="0" cy="310896"/>
          </a:xfrm>
          <a:prstGeom prst="line">
            <a:avLst/>
          </a:prstGeom>
          <a:ln w="1270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38944" y="4507992"/>
            <a:ext cx="0" cy="283464"/>
          </a:xfrm>
          <a:prstGeom prst="line">
            <a:avLst/>
          </a:prstGeom>
          <a:ln w="12700">
            <a:solidFill>
              <a:srgbClr val="AAC1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5236" y="3470148"/>
            <a:ext cx="3246120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429000"/>
            <a:ext cx="32461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566160"/>
            <a:ext cx="50292" cy="804671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3593592"/>
            <a:ext cx="384048" cy="384048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6896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7" y="3593592"/>
            <a:ext cx="23500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7192B"/>
                </a:solidFill>
                <a:latin typeface="Aptos Display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014215"/>
            <a:ext cx="281635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42B3D"/>
                </a:solidFill>
                <a:latin typeface="Aptos"/>
              </a:rPr>
              <a:t>Activity KPIs, dispatch pipeline, low-stock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4276" y="3470148"/>
            <a:ext cx="3246120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62272" y="3429000"/>
            <a:ext cx="32461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62272" y="3566160"/>
            <a:ext cx="50292" cy="804671"/>
          </a:xfrm>
          <a:prstGeom prst="rect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40" y="3593592"/>
            <a:ext cx="384048" cy="384048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6896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4648" y="3593592"/>
            <a:ext cx="23500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7192B"/>
                </a:solidFill>
                <a:latin typeface="Aptos Display"/>
              </a:rPr>
              <a:t>Water Entry &amp; WhatsApp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4014215"/>
            <a:ext cx="281635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42B3D"/>
                </a:solidFill>
                <a:latin typeface="Aptos"/>
              </a:rPr>
              <a:t>Fast entries; parsed messages reviewed before 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43316" y="3470148"/>
            <a:ext cx="3246120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11312" y="3429000"/>
            <a:ext cx="32461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11312" y="3566160"/>
            <a:ext cx="50292" cy="804671"/>
          </a:xfrm>
          <a:prstGeom prst="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12480" y="3593592"/>
            <a:ext cx="384048" cy="384048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36896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8" y="3593592"/>
            <a:ext cx="235000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7192B"/>
                </a:solidFill>
                <a:latin typeface="Aptos Display"/>
              </a:rPr>
              <a:t>Deliveries &amp; Route 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4014215"/>
            <a:ext cx="281635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42B3D"/>
                </a:solidFill>
                <a:latin typeface="Aptos"/>
              </a:rPr>
              <a:t>Delivery stages, stop ordering and navigation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" y="4841748"/>
            <a:ext cx="3246120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13232" y="4800600"/>
            <a:ext cx="32461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4937760"/>
            <a:ext cx="50292" cy="804671"/>
          </a:xfrm>
          <a:prstGeom prst="rect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4400" y="4965192"/>
            <a:ext cx="384048" cy="384048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0612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35607" y="4965192"/>
            <a:ext cx="23500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7192B"/>
                </a:solidFill>
                <a:latin typeface="Aptos Display"/>
              </a:rPr>
              <a:t>Customers &amp; Payments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5385816"/>
            <a:ext cx="281635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42B3D"/>
                </a:solidFill>
                <a:latin typeface="Aptos"/>
              </a:rPr>
              <a:t>Customer history, collections and balances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94276" y="4841748"/>
            <a:ext cx="3246120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462272" y="4800600"/>
            <a:ext cx="32461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62272" y="4937760"/>
            <a:ext cx="50292" cy="804671"/>
          </a:xfrm>
          <a:prstGeom prst="rect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63440" y="4965192"/>
            <a:ext cx="384048" cy="384048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63440" y="50612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4648" y="4965192"/>
            <a:ext cx="23500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7192B"/>
                </a:solidFill>
                <a:latin typeface="Aptos Display"/>
              </a:rPr>
              <a:t>Orders &amp; Inventory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81728" y="5385816"/>
            <a:ext cx="281635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42B3D"/>
                </a:solidFill>
                <a:latin typeface="Aptos"/>
              </a:rPr>
              <a:t>Multi-item orders and stock tracking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43316" y="4841748"/>
            <a:ext cx="3246120" cy="1078992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11312" y="4800600"/>
            <a:ext cx="32461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2" y="4937760"/>
            <a:ext cx="50292" cy="804671"/>
          </a:xfrm>
          <a:prstGeom prst="rect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12480" y="4965192"/>
            <a:ext cx="384048" cy="384048"/>
          </a:xfrm>
          <a:prstGeom prst="ellipse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5061204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33688" y="4965192"/>
            <a:ext cx="235000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7192B"/>
                </a:solidFill>
                <a:latin typeface="Aptos Display"/>
              </a:rPr>
              <a:t>Reports &amp; Settings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5385816"/>
            <a:ext cx="281635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42B3D"/>
                </a:solidFill>
                <a:latin typeface="Aptos"/>
              </a:rPr>
              <a:t>Period reports, CSV/print outputs and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PROBLEM TO SOLUTION MAPPING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07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6443472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How the Solution Addresses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Each documented module supports a specific part of the operating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011680"/>
            <a:ext cx="10698480" cy="484632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167128"/>
            <a:ext cx="3657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FC7D3"/>
                </a:solidFill>
                <a:latin typeface="Aptos"/>
              </a:rPr>
              <a:t>OPERATIONAL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2167128"/>
            <a:ext cx="5212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FC7D3"/>
                </a:solidFill>
                <a:latin typeface="Aptos"/>
              </a:rPr>
              <a:t>DOCUMENTED SOLUTION CAPABILITY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660904"/>
            <a:ext cx="10607040" cy="420624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2770632"/>
            <a:ext cx="182880" cy="182880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2766060"/>
            <a:ext cx="413308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42B3D"/>
                </a:solidFill>
                <a:latin typeface="Aptos"/>
              </a:rPr>
              <a:t>Records spread across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752344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74A6"/>
                </a:solidFill>
                <a:latin typeface="Aptos Display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2766060"/>
            <a:ext cx="5248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Dashboard + water entry + orders + customer history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3264408"/>
            <a:ext cx="182880" cy="18288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3259836"/>
            <a:ext cx="413308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42B3D"/>
                </a:solidFill>
                <a:latin typeface="Aptos"/>
              </a:rPr>
              <a:t>Dispatch work needs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3246120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8CDA4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7296" y="3259836"/>
            <a:ext cx="5248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Deliveries + route map + delivery-stage updates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3648456"/>
            <a:ext cx="10607040" cy="420624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3758184"/>
            <a:ext cx="182880" cy="182880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3312" y="3753612"/>
            <a:ext cx="413308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42B3D"/>
                </a:solidFill>
                <a:latin typeface="Aptos"/>
              </a:rPr>
              <a:t>Payments and balances need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4104" y="3739896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73D"/>
                </a:solidFill>
                <a:latin typeface="Aptos Display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7296" y="3753612"/>
            <a:ext cx="5248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Partial payments + FIFO allocation + receivables review</a:t>
            </a:r>
          </a:p>
        </p:txBody>
      </p:sp>
      <p:sp>
        <p:nvSpPr>
          <p:cNvPr id="28" name="Oval 27"/>
          <p:cNvSpPr/>
          <p:nvPr/>
        </p:nvSpPr>
        <p:spPr>
          <a:xfrm>
            <a:off x="987552" y="4251960"/>
            <a:ext cx="182880" cy="182880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3312" y="4247388"/>
            <a:ext cx="413308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42B3D"/>
                </a:solidFill>
                <a:latin typeface="Aptos"/>
              </a:rPr>
              <a:t>Inventory can change with 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4104" y="4233672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D6E5D"/>
                </a:solidFill>
                <a:latin typeface="Aptos Display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7296" y="4247388"/>
            <a:ext cx="5248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Stock updates through supported order/water-entry lifecycle 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" y="4636008"/>
            <a:ext cx="10607040" cy="420624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2" y="4745736"/>
            <a:ext cx="182880" cy="182880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3312" y="4741164"/>
            <a:ext cx="413308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42B3D"/>
                </a:solidFill>
                <a:latin typeface="Aptos"/>
              </a:rPr>
              <a:t>Incoming WhatsApp text needs checking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4104" y="4727448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C7D3"/>
                </a:solidFill>
                <a:latin typeface="Aptos Display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7296" y="4741164"/>
            <a:ext cx="5248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Message parsing followed by human review before acceptance</a:t>
            </a:r>
          </a:p>
        </p:txBody>
      </p:sp>
      <p:sp>
        <p:nvSpPr>
          <p:cNvPr id="37" name="Oval 36"/>
          <p:cNvSpPr/>
          <p:nvPr/>
        </p:nvSpPr>
        <p:spPr>
          <a:xfrm>
            <a:off x="987552" y="5239512"/>
            <a:ext cx="182880" cy="182880"/>
          </a:xfrm>
          <a:prstGeom prst="ellipse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53312" y="5234940"/>
            <a:ext cx="413308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42B3D"/>
                </a:solidFill>
                <a:latin typeface="Aptos"/>
              </a:rPr>
              <a:t>Reports needed for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4104" y="5221224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9975"/>
                </a:solidFill>
                <a:latin typeface="Aptos Display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7296" y="5234940"/>
            <a:ext cx="5248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B3D"/>
                </a:solidFill>
                <a:latin typeface="Aptos"/>
              </a:rPr>
              <a:t>Period reports + CSV/print outputs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5897880"/>
            <a:ext cx="105156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1">
                <a:solidFill>
                  <a:srgbClr val="5F7587"/>
                </a:solidFill>
                <a:latin typeface="Aptos"/>
              </a:rPr>
              <a:t>The mapping describes intended support based on documentation; validate actual behavior against the current deployed 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OPERATING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08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7363967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Solution in Practice: Daily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A practical sequence from stock preparation to payment and report reconciliation.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78992" y="2313432"/>
            <a:ext cx="0" cy="3483864"/>
          </a:xfrm>
          <a:prstGeom prst="line">
            <a:avLst/>
          </a:prstGeom>
          <a:ln w="2794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32104" y="2176272"/>
            <a:ext cx="493776" cy="493776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331720"/>
            <a:ext cx="493776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185416"/>
            <a:ext cx="2377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Check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99132"/>
            <a:ext cx="6766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3D"/>
                </a:solidFill>
                <a:latin typeface="Aptos"/>
              </a:rPr>
              <a:t>Review inventory and low-stock alerts before loading.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2670048"/>
            <a:ext cx="9573768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32104" y="2770632"/>
            <a:ext cx="493776" cy="493776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926080"/>
            <a:ext cx="493776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79776"/>
            <a:ext cx="2377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Record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793492"/>
            <a:ext cx="6766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3D"/>
                </a:solidFill>
                <a:latin typeface="Aptos"/>
              </a:rPr>
              <a:t>Enter customer, quantity, rate and payment status.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0200" y="3264408"/>
            <a:ext cx="9573768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32104" y="3364992"/>
            <a:ext cx="493776" cy="493776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520440"/>
            <a:ext cx="493776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374136"/>
            <a:ext cx="2377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Verify the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387852"/>
            <a:ext cx="6766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3D"/>
                </a:solidFill>
                <a:latin typeface="Aptos"/>
              </a:rPr>
              <a:t>Parse WhatsApp text, review each line item, then accept.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00200" y="3858768"/>
            <a:ext cx="9573768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32104" y="3959352"/>
            <a:ext cx="493776" cy="493776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4114800"/>
            <a:ext cx="493776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968496"/>
            <a:ext cx="2377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Coordinate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982212"/>
            <a:ext cx="6766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3D"/>
                </a:solidFill>
                <a:latin typeface="Aptos"/>
              </a:rPr>
              <a:t>Sequence stops and update the delivery status.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00200" y="4453128"/>
            <a:ext cx="9573768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32104" y="4553712"/>
            <a:ext cx="493776" cy="493776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4709160"/>
            <a:ext cx="493776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562856"/>
            <a:ext cx="2377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Record collections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576572"/>
            <a:ext cx="6766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3D"/>
                </a:solidFill>
                <a:latin typeface="Aptos"/>
              </a:rPr>
              <a:t>Capture payments and review unpaid balances.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00200" y="5047488"/>
            <a:ext cx="9573768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32104" y="5148072"/>
            <a:ext cx="493776" cy="493776"/>
          </a:xfrm>
          <a:prstGeom prst="ellipse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5303520"/>
            <a:ext cx="493776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157216"/>
            <a:ext cx="2377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192B"/>
                </a:solidFill>
                <a:latin typeface="Aptos Display"/>
              </a:rPr>
              <a:t>Review &amp; 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170931"/>
            <a:ext cx="6766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3D"/>
                </a:solidFill>
                <a:latin typeface="Aptos"/>
              </a:rPr>
              <a:t>Reconcile reports, then export CSV or print statements.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81912" y="5879592"/>
            <a:ext cx="9509760" cy="329184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92224" y="5961888"/>
            <a:ext cx="90982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274A6"/>
                </a:solidFill>
                <a:latin typeface="Aptos"/>
              </a:rPr>
              <a:t>CONTROL POINT  •  Confirm customer, quantities, rate and payment status before saving.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BUSINESS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09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8284464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Important Business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A solution is useful only when its transaction rules are understood and followed.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48256"/>
            <a:ext cx="5257800" cy="3456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048256"/>
            <a:ext cx="5257800" cy="59436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249424"/>
            <a:ext cx="4480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C7D3"/>
                </a:solidFill>
                <a:latin typeface="Aptos"/>
              </a:rPr>
              <a:t>01  /  PAYMENT ALLOCATION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907792"/>
            <a:ext cx="384048" cy="384048"/>
          </a:xfrm>
          <a:prstGeom prst="ellipse">
            <a:avLst/>
          </a:prstGeom>
          <a:solidFill>
            <a:srgbClr val="E4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08376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9975"/>
                </a:solidFill>
                <a:latin typeface="Aptos Display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2907792"/>
            <a:ext cx="3767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7192B"/>
                </a:solidFill>
                <a:latin typeface="Aptos"/>
              </a:rPr>
              <a:t>Partial payments are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218688"/>
            <a:ext cx="37490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F7587"/>
                </a:solidFill>
                <a:latin typeface="Aptos"/>
              </a:rPr>
              <a:t>Applicable to orders and water entries.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85615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General payment allocation follows FIFO: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315968"/>
            <a:ext cx="1325880" cy="512064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1655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"/>
              </a:rPr>
              <a:t>General
payment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32304" y="4572000"/>
            <a:ext cx="274320" cy="0"/>
          </a:xfrm>
          <a:prstGeom prst="line">
            <a:avLst/>
          </a:prstGeom>
          <a:ln w="2032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2578608" y="4471416"/>
            <a:ext cx="182880" cy="201168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70632" y="4315968"/>
            <a:ext cx="1298448" cy="512064"/>
          </a:xfrm>
          <a:prstGeom prst="roundRect">
            <a:avLst/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25496" y="4407408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2B3D"/>
                </a:solidFill>
                <a:latin typeface="Aptos"/>
              </a:rPr>
              <a:t>Oldest unpaid
orders first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05656" y="4572000"/>
            <a:ext cx="274320" cy="0"/>
          </a:xfrm>
          <a:prstGeom prst="line">
            <a:avLst/>
          </a:prstGeom>
          <a:ln w="2032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4251960" y="4471416"/>
            <a:ext cx="182880" cy="201168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62272" y="4315968"/>
            <a:ext cx="1261872" cy="512064"/>
          </a:xfrm>
          <a:prstGeom prst="roundRect">
            <a:avLst/>
          </a:prstGeom>
          <a:solidFill>
            <a:srgbClr val="E4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4407408"/>
            <a:ext cx="11521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B3D"/>
                </a:solidFill>
                <a:latin typeface="Aptos"/>
              </a:rPr>
              <a:t>Then older water
entries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048256"/>
            <a:ext cx="5257800" cy="3456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99632" y="2048256"/>
            <a:ext cx="5257800" cy="59436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2249424"/>
            <a:ext cx="4480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C7D3"/>
                </a:solidFill>
                <a:latin typeface="Aptos"/>
              </a:rPr>
              <a:t>02  /  STOCK &amp; REVIEW CONTROLS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2944368"/>
            <a:ext cx="310896" cy="310896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022092"/>
            <a:ext cx="310896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926080"/>
            <a:ext cx="3886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Stock 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191256"/>
            <a:ext cx="3950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F7587"/>
                </a:solidFill>
                <a:latin typeface="Aptos"/>
              </a:rPr>
              <a:t>Supported order and water-entry actions update stock.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3694176"/>
            <a:ext cx="310896" cy="310896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771900"/>
            <a:ext cx="310896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3675888"/>
            <a:ext cx="3886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WhatsApp messages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3941064"/>
            <a:ext cx="3950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F7587"/>
                </a:solidFill>
                <a:latin typeface="Aptos"/>
              </a:rPr>
              <a:t>Parsed order lines are reviewed by a person before acceptance.</a:t>
            </a:r>
          </a:p>
        </p:txBody>
      </p:sp>
      <p:sp>
        <p:nvSpPr>
          <p:cNvPr id="40" name="Oval 39"/>
          <p:cNvSpPr/>
          <p:nvPr/>
        </p:nvSpPr>
        <p:spPr>
          <a:xfrm>
            <a:off x="6492240" y="4443983"/>
            <a:ext cx="310896" cy="310896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521708"/>
            <a:ext cx="310896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4425696"/>
            <a:ext cx="3886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Risky changes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4690872"/>
            <a:ext cx="3950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F7587"/>
                </a:solidFill>
                <a:latin typeface="Aptos"/>
              </a:rPr>
              <a:t>Check cancellation/deletion effects before modifying real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TECHNICAL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10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9204960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Technical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High-level stack listed in the supplied documentation.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938528"/>
            <a:ext cx="10241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938528"/>
            <a:ext cx="2231136" cy="566928"/>
          </a:xfrm>
          <a:prstGeom prst="round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2112264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 Display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084832"/>
            <a:ext cx="74523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42B3D"/>
                </a:solidFill>
                <a:latin typeface="Aptos"/>
              </a:rPr>
              <a:t>React 19  •  Vite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514600"/>
            <a:ext cx="0" cy="164592"/>
          </a:xfrm>
          <a:prstGeom prst="line">
            <a:avLst/>
          </a:prstGeom>
          <a:ln w="15240">
            <a:solidFill>
              <a:srgbClr val="A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2688336"/>
            <a:ext cx="10241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2688336"/>
            <a:ext cx="2231136" cy="566928"/>
          </a:xfrm>
          <a:prstGeom prst="roundRect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2862072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 Display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834640"/>
            <a:ext cx="74523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42B3D"/>
                </a:solidFill>
                <a:latin typeface="Aptos"/>
              </a:rPr>
              <a:t>Node.js  •  Express 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264408"/>
            <a:ext cx="0" cy="164592"/>
          </a:xfrm>
          <a:prstGeom prst="line">
            <a:avLst/>
          </a:prstGeom>
          <a:ln w="15240">
            <a:solidFill>
              <a:srgbClr val="A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" y="3438144"/>
            <a:ext cx="10241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3438144"/>
            <a:ext cx="2231136" cy="566928"/>
          </a:xfrm>
          <a:prstGeom prst="round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3611879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 Display"/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584448"/>
            <a:ext cx="74523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42B3D"/>
                </a:solidFill>
                <a:latin typeface="Aptos"/>
              </a:rPr>
              <a:t>PostgreSQL via pg in production  •  local JSON fallback when configured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014215"/>
            <a:ext cx="0" cy="164593"/>
          </a:xfrm>
          <a:prstGeom prst="line">
            <a:avLst/>
          </a:prstGeom>
          <a:ln w="15240">
            <a:solidFill>
              <a:srgbClr val="A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0120" y="4187952"/>
            <a:ext cx="10241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4187952"/>
            <a:ext cx="2231136" cy="566928"/>
          </a:xfrm>
          <a:prstGeom prst="roundRect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361688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 Display"/>
              </a:rPr>
              <a:t>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4334256"/>
            <a:ext cx="74523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42B3D"/>
                </a:solidFill>
                <a:latin typeface="Aptos"/>
              </a:rPr>
              <a:t>JWT bearer tokens  •  bcryptjs password hashing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4764024"/>
            <a:ext cx="0" cy="164592"/>
          </a:xfrm>
          <a:prstGeom prst="line">
            <a:avLst/>
          </a:prstGeom>
          <a:ln w="15240">
            <a:solidFill>
              <a:srgbClr val="A3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0120" y="4937760"/>
            <a:ext cx="10241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" y="4937760"/>
            <a:ext cx="2231136" cy="566928"/>
          </a:xfrm>
          <a:prstGeom prst="roundRect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" y="5111496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 Display"/>
              </a:rPr>
              <a:t>HOSTING &amp;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5084064"/>
            <a:ext cx="74523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42B3D"/>
                </a:solidFill>
                <a:latin typeface="Aptos"/>
              </a:rPr>
              <a:t>Vercel static frontend + serverless Express API  •  Node.js tests  •  Oxlint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5870448"/>
            <a:ext cx="9509760" cy="347472"/>
          </a:xfrm>
          <a:prstGeom prst="roundRect">
            <a:avLst/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36192" y="5961888"/>
            <a:ext cx="9098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42B3D"/>
                </a:solidFill>
                <a:latin typeface="Aptos"/>
              </a:rPr>
              <a:t>Production persistence depends on the active database configuration; verify it in the deployed environment.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DOCUMENTATION &amp; REFERENCES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F7587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11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10125456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7192B"/>
                </a:solidFill>
                <a:latin typeface="Aptos Display"/>
              </a:rPr>
              <a:t>Project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53895"/>
            <a:ext cx="10607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587"/>
                </a:solidFill>
                <a:latin typeface="Aptos"/>
              </a:rPr>
              <a:t>Use the repository guides as the detailed reference for operations, development and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" y="1965960"/>
            <a:ext cx="10515600" cy="438912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66543"/>
            <a:ext cx="228600" cy="228600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121408"/>
            <a:ext cx="22860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075688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92B"/>
                </a:solidFill>
                <a:latin typeface="Aptos"/>
              </a:rPr>
              <a:t>README.md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075688"/>
            <a:ext cx="72694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2B3D"/>
                </a:solidFill>
                <a:latin typeface="Aptos"/>
              </a:rPr>
              <a:t>Project overview and main capabilities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2587751"/>
            <a:ext cx="228600" cy="22860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2642615"/>
            <a:ext cx="22860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2596896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92B"/>
                </a:solidFill>
                <a:latin typeface="Aptos"/>
              </a:rPr>
              <a:t>docs/index.md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596896"/>
            <a:ext cx="72694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2B3D"/>
                </a:solidFill>
                <a:latin typeface="Aptos"/>
              </a:rPr>
              <a:t>Documentation index and links to guides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" y="3008376"/>
            <a:ext cx="10515600" cy="438912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3108960"/>
            <a:ext cx="228600" cy="228600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163824"/>
            <a:ext cx="22860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118104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92B"/>
                </a:solidFill>
                <a:latin typeface="Aptos"/>
              </a:rPr>
              <a:t>User &amp; feature guides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118104"/>
            <a:ext cx="72694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2B3D"/>
                </a:solidFill>
                <a:latin typeface="Aptos"/>
              </a:rPr>
              <a:t>docs/user-guide.md  •  docs/features.md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" y="3630168"/>
            <a:ext cx="228600" cy="228600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3685032"/>
            <a:ext cx="22860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3639312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92B"/>
                </a:solidFill>
                <a:latin typeface="Aptos"/>
              </a:rPr>
              <a:t>Technical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39312"/>
            <a:ext cx="72694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2B3D"/>
                </a:solidFill>
                <a:latin typeface="Aptos"/>
              </a:rPr>
              <a:t>docs/system-architecture.md  •  docs/database-design.md  •  docs/api-reference.md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" y="4050791"/>
            <a:ext cx="10515600" cy="438912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" y="4151376"/>
            <a:ext cx="228600" cy="228600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206240"/>
            <a:ext cx="22860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4160520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92B"/>
                </a:solidFill>
                <a:latin typeface="Aptos"/>
              </a:rPr>
              <a:t>Developer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4160520"/>
            <a:ext cx="72694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2B3D"/>
                </a:solidFill>
                <a:latin typeface="Aptos"/>
              </a:rPr>
              <a:t>docs/local-development.md  •  docs/deployment-guide.md  •  docs/testing-and-validation.md</a:t>
            </a:r>
          </a:p>
        </p:txBody>
      </p:sp>
      <p:sp>
        <p:nvSpPr>
          <p:cNvPr id="34" name="Oval 33"/>
          <p:cNvSpPr/>
          <p:nvPr/>
        </p:nvSpPr>
        <p:spPr>
          <a:xfrm>
            <a:off x="1024128" y="4672584"/>
            <a:ext cx="228600" cy="228600"/>
          </a:xfrm>
          <a:prstGeom prst="ellipse">
            <a:avLst/>
          </a:prstGeom>
          <a:solidFill>
            <a:srgbClr val="2B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4727448"/>
            <a:ext cx="22860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4681728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92B"/>
                </a:solidFill>
                <a:latin typeface="Aptos"/>
              </a:rPr>
              <a:t>Troubleshooting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681728"/>
            <a:ext cx="72694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2B3D"/>
                </a:solidFill>
                <a:latin typeface="Aptos"/>
              </a:rPr>
              <a:t>docs/troubleshooting.md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5413248"/>
            <a:ext cx="5074920" cy="713232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577840"/>
            <a:ext cx="4480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C7D3"/>
                </a:solidFill>
                <a:latin typeface="Aptos"/>
              </a:rPr>
              <a:t>LIVE WEBSITE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788152"/>
            <a:ext cx="4526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ptos"/>
                <a:hlinkClick r:id="rId2"/>
              </a:rPr>
              <a:t>ocean-enterprises.vercel.app/docs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13248"/>
            <a:ext cx="5074920" cy="713232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5577840"/>
            <a:ext cx="4480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C7D3"/>
                </a:solidFill>
                <a:latin typeface="Aptos"/>
              </a:rPr>
              <a:t>GITHUB REPOSITORY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5788152"/>
            <a:ext cx="4526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  <a:hlinkClick r:id="rId3"/>
              </a:rPr>
              <a:t>github.com/alicharolia7869/ocean-enterprises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C7D3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4279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4BDCF"/>
                </a:solidFill>
                <a:latin typeface="Aptos"/>
              </a:rPr>
              <a:t>CONCLUSION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48640"/>
            <a:ext cx="11064240" cy="0"/>
          </a:xfrm>
          <a:prstGeom prst="line">
            <a:avLst/>
          </a:prstGeom>
          <a:ln w="10160">
            <a:solidFill>
              <a:srgbClr val="27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83210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A4BDCF"/>
                </a:solidFill>
                <a:latin typeface="Aptos"/>
              </a:rPr>
              <a:t>PROBLEM STATEMENT &amp; SOLUTION  •  DOCUMENTATION-BASED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6437376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4BDCF"/>
                </a:solidFill>
                <a:latin typeface="Aptos Display"/>
              </a:rPr>
              <a:t>12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27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960120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C7D3"/>
                </a:solidFill>
                <a:latin typeface="Aptos"/>
              </a:rPr>
              <a:t>THE 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5486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One workflow.
Clearer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816352"/>
            <a:ext cx="5074920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EA"/>
                </a:solidFill>
                <a:latin typeface="Aptos"/>
              </a:rPr>
              <a:t>Ocean Enterprises brings documented workflows for orders, water entries, delivery coordination, customer balances, inventory and reporting into one business management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417320"/>
            <a:ext cx="4709160" cy="832104"/>
          </a:xfrm>
          <a:prstGeom prst="roundRect">
            <a:avLst/>
          </a:prstGeom>
          <a:solidFill>
            <a:srgbClr val="0D2B43"/>
          </a:solidFill>
          <a:ln w="10160">
            <a:solidFill>
              <a:srgbClr val="2D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65976" y="1618488"/>
            <a:ext cx="365760" cy="36576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5976" y="1723644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4616" y="1563624"/>
            <a:ext cx="3337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"/>
              </a:rPr>
              <a:t>COORDINATE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810512"/>
            <a:ext cx="3611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Connect order, delivery and record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8232" y="2468880"/>
            <a:ext cx="4709160" cy="832104"/>
          </a:xfrm>
          <a:prstGeom prst="roundRect">
            <a:avLst/>
          </a:prstGeom>
          <a:solidFill>
            <a:srgbClr val="0D2B43"/>
          </a:solidFill>
          <a:ln w="10160">
            <a:solidFill>
              <a:srgbClr val="2D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65976" y="2670048"/>
            <a:ext cx="365760" cy="365760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2775204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2615184"/>
            <a:ext cx="3337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4616" y="2862072"/>
            <a:ext cx="3611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Check parsed orders, payments and stock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3520439"/>
            <a:ext cx="4709160" cy="832104"/>
          </a:xfrm>
          <a:prstGeom prst="roundRect">
            <a:avLst/>
          </a:prstGeom>
          <a:solidFill>
            <a:srgbClr val="0D2B43"/>
          </a:solidFill>
          <a:ln w="10160">
            <a:solidFill>
              <a:srgbClr val="2D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65976" y="3721607"/>
            <a:ext cx="365760" cy="365760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5976" y="3826763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3666744"/>
            <a:ext cx="3337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"/>
              </a:rPr>
              <a:t>RECONCILE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3913631"/>
            <a:ext cx="3611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Use reports and exports to review outstanding 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08576"/>
            <a:ext cx="10378440" cy="960120"/>
          </a:xfrm>
          <a:prstGeom prst="roundRect">
            <a:avLst/>
          </a:prstGeom>
          <a:solidFill>
            <a:srgbClr val="0D2B43"/>
          </a:solidFill>
          <a:ln w="10160">
            <a:solidFill>
              <a:srgbClr val="2D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846320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C7D3"/>
                </a:solidFill>
                <a:latin typeface="Aptos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800600"/>
            <a:ext cx="818387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1  Read docs/index.md     2  Validate key workflows     3  Run tests and build     4  Confirm production database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79592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AFC5D6"/>
                </a:solidFill>
                <a:latin typeface="Aptos"/>
              </a:rPr>
              <a:t>Important: these are intended benefits of the documented design, not measured performance claims. Verify live behavior against the current repository and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