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cean-enterprises.vercel.app/docs" TargetMode="External"/><Relationship Id="rId3" Type="http://schemas.openxmlformats.org/officeDocument/2006/relationships/hyperlink" Target="https://github.com/alicharolia7869/ocean-enterprise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86600" y="45720"/>
            <a:ext cx="5102352" cy="5102352"/>
          </a:xfrm>
          <a:prstGeom prst="ellipse">
            <a:avLst/>
          </a:prstGeom>
          <a:solidFill>
            <a:srgbClr val="0D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43800" y="320040"/>
            <a:ext cx="4389120" cy="4389120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440" y="685800"/>
            <a:ext cx="3566160" cy="3566160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68512" y="1307592"/>
            <a:ext cx="2414016" cy="2414016"/>
          </a:xfrm>
          <a:prstGeom prst="ellipse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7022592" y="3730752"/>
            <a:ext cx="4453128" cy="384048"/>
          </a:xfrm>
          <a:prstGeom prst="line">
            <a:avLst/>
          </a:prstGeom>
          <a:ln w="16510">
            <a:solidFill>
              <a:srgbClr val="1FC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022592" y="3986784"/>
            <a:ext cx="4453128" cy="384048"/>
          </a:xfrm>
          <a:prstGeom prst="line">
            <a:avLst/>
          </a:prstGeom>
          <a:ln w="16510">
            <a:solidFill>
              <a:srgbClr val="14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022592" y="4242816"/>
            <a:ext cx="4453128" cy="384048"/>
          </a:xfrm>
          <a:prstGeom prst="line">
            <a:avLst/>
          </a:prstGeom>
          <a:ln w="16510">
            <a:solidFill>
              <a:srgbClr val="1FC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022592" y="4498848"/>
            <a:ext cx="4453128" cy="384048"/>
          </a:xfrm>
          <a:prstGeom prst="line">
            <a:avLst/>
          </a:prstGeom>
          <a:ln w="16510">
            <a:solidFill>
              <a:srgbClr val="143D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022592" y="4754880"/>
            <a:ext cx="4453128" cy="384048"/>
          </a:xfrm>
          <a:prstGeom prst="line">
            <a:avLst/>
          </a:prstGeom>
          <a:ln w="16510">
            <a:solidFill>
              <a:srgbClr val="1FC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635240" y="4800600"/>
            <a:ext cx="1051560" cy="365760"/>
          </a:xfrm>
          <a:prstGeom prst="line">
            <a:avLst/>
          </a:prstGeom>
          <a:ln w="22860">
            <a:solidFill>
              <a:srgbClr val="448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86800" y="4800600"/>
            <a:ext cx="1115568" cy="521208"/>
          </a:xfrm>
          <a:prstGeom prst="line">
            <a:avLst/>
          </a:prstGeom>
          <a:ln w="22860">
            <a:solidFill>
              <a:srgbClr val="448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802368" y="4709160"/>
            <a:ext cx="1042416" cy="612648"/>
          </a:xfrm>
          <a:prstGeom prst="line">
            <a:avLst/>
          </a:prstGeom>
          <a:ln w="22860">
            <a:solidFill>
              <a:srgbClr val="448B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43800" y="5074920"/>
            <a:ext cx="182880" cy="182880"/>
          </a:xfrm>
          <a:prstGeom prst="ellipse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60" y="4709160"/>
            <a:ext cx="182880" cy="182880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710928" y="5230368"/>
            <a:ext cx="182880" cy="182880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53344" y="4617720"/>
            <a:ext cx="182880" cy="182880"/>
          </a:xfrm>
          <a:prstGeom prst="ellipse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868680"/>
            <a:ext cx="68580" cy="5074920"/>
          </a:xfrm>
          <a:prstGeom prst="rect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932688"/>
            <a:ext cx="521208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C7D3"/>
                </a:solidFill>
                <a:latin typeface="Aptos Display"/>
              </a:rPr>
              <a:t>OCEAN ENTERPRISES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1481328"/>
            <a:ext cx="5989320" cy="20116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 Display"/>
              </a:rPr>
              <a:t>Business
Management
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675887"/>
            <a:ext cx="553212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2D6E5"/>
                </a:solidFill>
                <a:latin typeface="Aptos"/>
              </a:rPr>
              <a:t>PRODUCT, OPERATOR &amp; TECHNICAL DOCUMENTATION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261104"/>
            <a:ext cx="1207008" cy="292608"/>
          </a:xfrm>
          <a:prstGeom prst="roundRect">
            <a:avLst/>
          </a:prstGeom>
          <a:solidFill>
            <a:srgbClr val="14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4320540"/>
            <a:ext cx="1078992" cy="14630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WATER SUPPLY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4261104"/>
            <a:ext cx="1024128" cy="292608"/>
          </a:xfrm>
          <a:prstGeom prst="roundRect">
            <a:avLst/>
          </a:prstGeom>
          <a:solidFill>
            <a:srgbClr val="14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95727" y="4320540"/>
            <a:ext cx="896112" cy="14630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BEVERAGES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7288" y="4261104"/>
            <a:ext cx="914400" cy="292608"/>
          </a:xfrm>
          <a:prstGeom prst="roundRect">
            <a:avLst/>
          </a:prstGeom>
          <a:solidFill>
            <a:srgbClr val="14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1296" y="4320540"/>
            <a:ext cx="786384" cy="14630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DISPATCH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62272" y="4261104"/>
            <a:ext cx="1005840" cy="292608"/>
          </a:xfrm>
          <a:prstGeom prst="roundRect">
            <a:avLst/>
          </a:prstGeom>
          <a:solidFill>
            <a:srgbClr val="14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320540"/>
            <a:ext cx="877824" cy="14630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INVENTORY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59552" y="4261104"/>
            <a:ext cx="1508760" cy="292608"/>
          </a:xfrm>
          <a:prstGeom prst="roundRect">
            <a:avLst/>
          </a:prstGeom>
          <a:solidFill>
            <a:srgbClr val="14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23560" y="4320540"/>
            <a:ext cx="1380743" cy="14630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CUSTOMER LEDGERS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24128" y="4956048"/>
            <a:ext cx="5650992" cy="0"/>
          </a:xfrm>
          <a:prstGeom prst="line">
            <a:avLst/>
          </a:prstGeom>
          <a:ln w="12700">
            <a:solidFill>
              <a:srgbClr val="274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24128" y="5230368"/>
            <a:ext cx="91440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C7D3"/>
                </a:solidFill>
                <a:latin typeface="Aptos"/>
              </a:rPr>
              <a:t>LIVE SITE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5184648"/>
            <a:ext cx="347472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ocean-enterprises.vercel.app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6099048"/>
            <a:ext cx="402336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9B4C8"/>
                </a:solidFill>
                <a:latin typeface="Aptos"/>
              </a:rPr>
              <a:t>DOCUMENTATION OVERVIEW  • 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53928" y="6089904"/>
            <a:ext cx="64008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25146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402336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BUSINESS OVERVIEW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76072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7498079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F7587"/>
                </a:solidFill>
                <a:latin typeface="Aptos"/>
              </a:rPr>
              <a:t>BUSINESS MANAGEMENT SYSTEM  •  PRODUCT / OPERATIONS / 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37376"/>
            <a:ext cx="7955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02  /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2008354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7192B"/>
                </a:solidFill>
                <a:latin typeface="Aptos Display"/>
              </a:rPr>
              <a:t>Business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72184"/>
            <a:ext cx="1060704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587"/>
                </a:solidFill>
                <a:latin typeface="Aptos"/>
              </a:rPr>
              <a:t>One operating workspace for day-to-day water supply and beverage distribution.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965960"/>
            <a:ext cx="3657600" cy="3950208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04288"/>
            <a:ext cx="228600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C7D3"/>
                </a:solidFill>
                <a:latin typeface="Aptos"/>
              </a:rPr>
              <a:t>THE OPERATING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724912"/>
            <a:ext cx="3017520" cy="17830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Make everyday
distribution work
clearer and easier
to coordinate.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2907792" cy="5486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1D7E7"/>
                </a:solidFill>
                <a:latin typeface="Aptos"/>
              </a:rPr>
              <a:t>Record accurately. Review carefully. Reconcile regularly.</a:t>
            </a:r>
          </a:p>
        </p:txBody>
      </p:sp>
      <p:sp>
        <p:nvSpPr>
          <p:cNvPr id="15" name="Oval 14"/>
          <p:cNvSpPr/>
          <p:nvPr/>
        </p:nvSpPr>
        <p:spPr>
          <a:xfrm>
            <a:off x="4773168" y="2093976"/>
            <a:ext cx="475488" cy="475488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2217420"/>
            <a:ext cx="475488" cy="1645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2075688"/>
            <a:ext cx="530352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192B"/>
                </a:solidFill>
                <a:latin typeface="Aptos Display"/>
              </a:rPr>
              <a:t>Manage 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7256" y="2414015"/>
            <a:ext cx="5486400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7587"/>
                </a:solidFill>
                <a:latin typeface="Aptos"/>
              </a:rPr>
              <a:t>Packaged drinking water and wholesale beverage workflows.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68112" y="2825496"/>
            <a:ext cx="5733288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773168" y="3081528"/>
            <a:ext cx="475488" cy="475488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04972"/>
            <a:ext cx="475488" cy="1645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8112" y="3063240"/>
            <a:ext cx="530352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192B"/>
                </a:solidFill>
                <a:latin typeface="Aptos Display"/>
              </a:rPr>
              <a:t>Record deliveries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7256" y="3401568"/>
            <a:ext cx="5486400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7587"/>
                </a:solidFill>
                <a:latin typeface="Aptos"/>
              </a:rPr>
              <a:t>Fast water-delivery entries and multi-item customer orders.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68112" y="3813048"/>
            <a:ext cx="5733288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773168" y="4069080"/>
            <a:ext cx="475488" cy="475488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4192524"/>
            <a:ext cx="475488" cy="1645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8112" y="4050792"/>
            <a:ext cx="530352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192B"/>
                </a:solidFill>
                <a:latin typeface="Aptos Display"/>
              </a:rPr>
              <a:t>Coordinate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77256" y="4389120"/>
            <a:ext cx="5486400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7587"/>
                </a:solidFill>
                <a:latin typeface="Aptos"/>
              </a:rPr>
              <a:t>Delivery status, customer balances, stock and reporting.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68112" y="4800600"/>
            <a:ext cx="5733288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773168" y="5056632"/>
            <a:ext cx="475488" cy="475488"/>
          </a:xfrm>
          <a:prstGeom prst="ellipse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73168" y="5180076"/>
            <a:ext cx="475488" cy="1645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 Display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68112" y="5038344"/>
            <a:ext cx="5303520" cy="2926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192B"/>
                </a:solidFill>
                <a:latin typeface="Aptos Display"/>
              </a:rPr>
              <a:t>Review before saving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77256" y="5376672"/>
            <a:ext cx="5486400" cy="3383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7587"/>
                </a:solidFill>
                <a:latin typeface="Aptos"/>
              </a:rPr>
              <a:t>Operators and administrators verify details before committing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25146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402336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PLATFORM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76072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7498079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F7587"/>
                </a:solidFill>
                <a:latin typeface="Aptos"/>
              </a:rPr>
              <a:t>BUSINESS MANAGEMENT SYSTEM  •  PRODUCT / OPERATIONS / 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37376"/>
            <a:ext cx="7955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03  /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3012532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7192B"/>
                </a:solidFill>
                <a:latin typeface="Aptos Display"/>
              </a:rPr>
              <a:t>Operational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72184"/>
            <a:ext cx="1060704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587"/>
                </a:solidFill>
                <a:latin typeface="Aptos"/>
              </a:rPr>
              <a:t>The main areas documented in the repository—and how they support the daily operation.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2926080"/>
            <a:ext cx="0" cy="438912"/>
          </a:xfrm>
          <a:prstGeom prst="line">
            <a:avLst/>
          </a:prstGeom>
          <a:ln w="25400">
            <a:solidFill>
              <a:srgbClr val="B1C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40280" y="3364992"/>
            <a:ext cx="7653528" cy="0"/>
          </a:xfrm>
          <a:prstGeom prst="line">
            <a:avLst/>
          </a:prstGeom>
          <a:ln w="25400">
            <a:solidFill>
              <a:srgbClr val="B1C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40280" y="3364992"/>
            <a:ext cx="0" cy="356616"/>
          </a:xfrm>
          <a:prstGeom prst="line">
            <a:avLst/>
          </a:prstGeom>
          <a:ln w="25400">
            <a:solidFill>
              <a:srgbClr val="B1C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73168" y="3364992"/>
            <a:ext cx="0" cy="356616"/>
          </a:xfrm>
          <a:prstGeom prst="line">
            <a:avLst/>
          </a:prstGeom>
          <a:ln w="25400">
            <a:solidFill>
              <a:srgbClr val="B1C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33488" y="3364992"/>
            <a:ext cx="0" cy="356616"/>
          </a:xfrm>
          <a:prstGeom prst="line">
            <a:avLst/>
          </a:prstGeom>
          <a:ln w="25400">
            <a:solidFill>
              <a:srgbClr val="B1C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93808" y="3364992"/>
            <a:ext cx="0" cy="356616"/>
          </a:xfrm>
          <a:prstGeom prst="line">
            <a:avLst/>
          </a:prstGeom>
          <a:ln w="25400">
            <a:solidFill>
              <a:srgbClr val="B1C7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40480" y="2148840"/>
            <a:ext cx="4480560" cy="749808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96512" y="2322576"/>
            <a:ext cx="384048" cy="384048"/>
          </a:xfrm>
          <a:prstGeom prst="ellipse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96512" y="2423160"/>
            <a:ext cx="384048" cy="14630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192B"/>
                </a:solidFill>
                <a:latin typeface="Aptos Display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286000"/>
            <a:ext cx="214884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 Display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2596896"/>
            <a:ext cx="3337560" cy="1737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0D6E6"/>
                </a:solidFill>
                <a:latin typeface="Aptos"/>
              </a:rPr>
              <a:t>Activity KPIs • dispatch pipeline • low-stock alerts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" y="3767328"/>
            <a:ext cx="2423160" cy="1572768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721608"/>
            <a:ext cx="242316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3721608"/>
            <a:ext cx="50292" cy="1572768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13632"/>
            <a:ext cx="3657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74A6"/>
                </a:solidFill>
                <a:latin typeface="Aptos Display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06240"/>
            <a:ext cx="2011680" cy="5852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192B"/>
                </a:solidFill>
                <a:latin typeface="Aptos Display"/>
              </a:rPr>
              <a:t>Water Entry &amp;
WhatsApp Orders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18888"/>
            <a:ext cx="2002536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587"/>
                </a:solidFill>
                <a:latin typeface="Aptos"/>
              </a:rPr>
              <a:t>Fast entries and reviewed message parsing.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92424" y="3767328"/>
            <a:ext cx="2423160" cy="1572768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64992" y="3721608"/>
            <a:ext cx="242316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64992" y="3721608"/>
            <a:ext cx="50292" cy="1572768"/>
          </a:xfrm>
          <a:prstGeom prst="rect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3913632"/>
            <a:ext cx="3657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8CDA4"/>
                </a:solidFill>
                <a:latin typeface="Aptos Display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206240"/>
            <a:ext cx="2011680" cy="5852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192B"/>
                </a:solidFill>
                <a:latin typeface="Aptos Display"/>
              </a:rPr>
              <a:t>Deliveries &amp;
Route 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818888"/>
            <a:ext cx="2002536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587"/>
                </a:solidFill>
                <a:latin typeface="Aptos"/>
              </a:rPr>
              <a:t>Delivery stages, stop ordering and navigation.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44184" y="3767328"/>
            <a:ext cx="2423160" cy="1572768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16752" y="3721608"/>
            <a:ext cx="242316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16752" y="3721608"/>
            <a:ext cx="50292" cy="1572768"/>
          </a:xfrm>
          <a:prstGeom prst="rect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913632"/>
            <a:ext cx="3657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B73D"/>
                </a:solidFill>
                <a:latin typeface="Aptos Display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206240"/>
            <a:ext cx="2011680" cy="5852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192B"/>
                </a:solidFill>
                <a:latin typeface="Aptos Display"/>
              </a:rPr>
              <a:t>Customers, Payments,
Orders &amp; Inventory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818888"/>
            <a:ext cx="2002536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587"/>
                </a:solidFill>
                <a:latin typeface="Aptos"/>
              </a:rPr>
              <a:t>Customer history, collections and stock.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95944" y="3767328"/>
            <a:ext cx="2423160" cy="1572768"/>
          </a:xfrm>
          <a:prstGeom prst="round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68512" y="3721608"/>
            <a:ext cx="242316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68512" y="3721608"/>
            <a:ext cx="50292" cy="1572768"/>
          </a:xfrm>
          <a:prstGeom prst="rect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3913632"/>
            <a:ext cx="3657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D6E5D"/>
                </a:solidFill>
                <a:latin typeface="Aptos Display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206240"/>
            <a:ext cx="2011680" cy="58521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192B"/>
                </a:solidFill>
                <a:latin typeface="Aptos Display"/>
              </a:rPr>
              <a:t>Reports &amp; Settings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4818888"/>
            <a:ext cx="2002536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587"/>
                </a:solidFill>
                <a:latin typeface="Aptos"/>
              </a:rPr>
              <a:t>Period reports, CSV/print outputs and configuration.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815584"/>
            <a:ext cx="502920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274A6"/>
                </a:solidFill>
                <a:latin typeface="Aptos"/>
              </a:rPr>
              <a:t>NOTE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53312" y="5779008"/>
            <a:ext cx="9875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F7587"/>
                </a:solidFill>
                <a:latin typeface="Aptos"/>
              </a:rPr>
              <a:t>This map groups the documented modules; it is not a data-flow or permission diagram.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25146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402336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OPERATIONS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76072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7498079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F7587"/>
                </a:solidFill>
                <a:latin typeface="Aptos"/>
              </a:rPr>
              <a:t>BUSINESS MANAGEMENT SYSTEM  •  PRODUCT / OPERATIONS / 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37376"/>
            <a:ext cx="7955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04  /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4016709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7192B"/>
                </a:solidFill>
                <a:latin typeface="Aptos Display"/>
              </a:rPr>
              <a:t>Daily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72184"/>
            <a:ext cx="1060704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587"/>
                </a:solidFill>
                <a:latin typeface="Aptos"/>
              </a:rPr>
              <a:t>A repeatable sequence for preparing, delivering, collecting and reconciling orders.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97280" y="2167128"/>
            <a:ext cx="0" cy="3730752"/>
          </a:xfrm>
          <a:prstGeom prst="line">
            <a:avLst/>
          </a:prstGeom>
          <a:ln w="2794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32104" y="2084832"/>
            <a:ext cx="530352" cy="530352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253996"/>
            <a:ext cx="530352" cy="1371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2075688"/>
            <a:ext cx="2606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7192B"/>
                </a:solidFill>
                <a:latin typeface="Aptos Display"/>
              </a:rPr>
              <a:t>Check 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084832"/>
            <a:ext cx="658368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42B3D"/>
                </a:solidFill>
                <a:latin typeface="Aptos"/>
              </a:rPr>
              <a:t>Review stock and low-stock alerts before loading.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2587752"/>
            <a:ext cx="9546336" cy="0"/>
          </a:xfrm>
          <a:prstGeom prst="line">
            <a:avLst/>
          </a:prstGeom>
          <a:ln w="762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32104" y="2743200"/>
            <a:ext cx="530352" cy="530352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2912364"/>
            <a:ext cx="530352" cy="1371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2734056"/>
            <a:ext cx="2606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7192B"/>
                </a:solidFill>
                <a:latin typeface="Aptos Display"/>
              </a:rPr>
              <a:t>Record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743200"/>
            <a:ext cx="658368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42B3D"/>
                </a:solidFill>
                <a:latin typeface="Aptos"/>
              </a:rPr>
              <a:t>Enter the correct customer, quantity, rate and payment status.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45920" y="3246120"/>
            <a:ext cx="9546336" cy="0"/>
          </a:xfrm>
          <a:prstGeom prst="line">
            <a:avLst/>
          </a:prstGeom>
          <a:ln w="762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32104" y="3401568"/>
            <a:ext cx="530352" cy="530352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3570732"/>
            <a:ext cx="530352" cy="1371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3392424"/>
            <a:ext cx="2606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7192B"/>
                </a:solidFill>
                <a:latin typeface="Aptos Display"/>
              </a:rPr>
              <a:t>Verify WhatsApp 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3401568"/>
            <a:ext cx="658368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42B3D"/>
                </a:solidFill>
                <a:latin typeface="Aptos"/>
              </a:rPr>
              <a:t>Parse the message, check each line item, then accept the order.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45920" y="3904488"/>
            <a:ext cx="9546336" cy="0"/>
          </a:xfrm>
          <a:prstGeom prst="line">
            <a:avLst/>
          </a:prstGeom>
          <a:ln w="762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32104" y="4059936"/>
            <a:ext cx="530352" cy="530352"/>
          </a:xfrm>
          <a:prstGeom prst="ellipse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" y="4229100"/>
            <a:ext cx="530352" cy="1371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7632" y="4050792"/>
            <a:ext cx="2606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7192B"/>
                </a:solidFill>
                <a:latin typeface="Aptos Display"/>
              </a:rPr>
              <a:t>Sequence deliveries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4059936"/>
            <a:ext cx="658368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42B3D"/>
                </a:solidFill>
                <a:latin typeface="Aptos"/>
              </a:rPr>
              <a:t>Arrange stops and update delivery status as work progresses.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645920" y="4562856"/>
            <a:ext cx="9546336" cy="0"/>
          </a:xfrm>
          <a:prstGeom prst="line">
            <a:avLst/>
          </a:prstGeom>
          <a:ln w="762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32104" y="4718303"/>
            <a:ext cx="530352" cy="530352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" y="4887468"/>
            <a:ext cx="530352" cy="1371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27632" y="4709159"/>
            <a:ext cx="2606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7192B"/>
                </a:solidFill>
                <a:latin typeface="Aptos Display"/>
              </a:rPr>
              <a:t>Record collections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0248" y="4718303"/>
            <a:ext cx="658368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42B3D"/>
                </a:solidFill>
                <a:latin typeface="Aptos"/>
              </a:rPr>
              <a:t>Capture payments and review pending receivables.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645920" y="5221224"/>
            <a:ext cx="9546336" cy="0"/>
          </a:xfrm>
          <a:prstGeom prst="line">
            <a:avLst/>
          </a:prstGeom>
          <a:ln w="762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32104" y="5376672"/>
            <a:ext cx="530352" cy="530352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" y="5545836"/>
            <a:ext cx="530352" cy="1371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7632" y="5367528"/>
            <a:ext cx="26060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7192B"/>
                </a:solidFill>
                <a:latin typeface="Aptos Display"/>
              </a:rPr>
              <a:t>Reconcile &amp; export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0248" y="5376672"/>
            <a:ext cx="658368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42B3D"/>
                </a:solidFill>
                <a:latin typeface="Aptos"/>
              </a:rPr>
              <a:t>Review reports; export CSV or print statements when needed.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27632" y="6062472"/>
            <a:ext cx="9418320" cy="292608"/>
          </a:xfrm>
          <a:prstGeom prst="round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10512" y="6131052"/>
            <a:ext cx="905256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74A6"/>
                </a:solidFill>
                <a:latin typeface="Aptos"/>
              </a:rPr>
              <a:t>FINAL CHECKPOINT  •  Verify customer, quantities, rate and payment status before saving.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25146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402336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BUSINESS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76072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7498079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F7587"/>
                </a:solidFill>
                <a:latin typeface="Aptos"/>
              </a:rPr>
              <a:t>BUSINESS MANAGEMENT SYSTEM  •  PRODUCT / OPERATIONS / 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37376"/>
            <a:ext cx="7955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05  /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5020887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7192B"/>
                </a:solidFill>
                <a:latin typeface="Aptos Display"/>
              </a:rPr>
              <a:t>Payments &amp; Inventory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72184"/>
            <a:ext cx="1060704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587"/>
                </a:solidFill>
                <a:latin typeface="Aptos"/>
              </a:rPr>
              <a:t>Understand the financial and stock behaviours before updating real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57400"/>
            <a:ext cx="525780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2057400"/>
            <a:ext cx="525780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057400"/>
            <a:ext cx="5257800" cy="640080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2057400"/>
            <a:ext cx="5257800" cy="640080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276856"/>
            <a:ext cx="44805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C7D3"/>
                </a:solidFill>
                <a:latin typeface="Aptos"/>
              </a:rPr>
              <a:t>01  /  PAYMENT BEHAVIOUR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276856"/>
            <a:ext cx="448056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C7D3"/>
                </a:solidFill>
                <a:latin typeface="Aptos"/>
              </a:rPr>
              <a:t>02  /  INVENTORY BEHAVIOUR</a:t>
            </a:r>
          </a:p>
        </p:txBody>
      </p:sp>
      <p:sp>
        <p:nvSpPr>
          <p:cNvPr id="17" name="Oval 16"/>
          <p:cNvSpPr/>
          <p:nvPr/>
        </p:nvSpPr>
        <p:spPr>
          <a:xfrm>
            <a:off x="1033271" y="2999232"/>
            <a:ext cx="420624" cy="420624"/>
          </a:xfrm>
          <a:prstGeom prst="ellipse">
            <a:avLst/>
          </a:prstGeom>
          <a:solidFill>
            <a:srgbClr val="E4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081528"/>
            <a:ext cx="420624" cy="1645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74A6"/>
                </a:solidFill>
                <a:latin typeface="Aptos Display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035808"/>
            <a:ext cx="379476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192B"/>
                </a:solidFill>
                <a:latin typeface="Aptos"/>
              </a:rPr>
              <a:t>Partial payments are supported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3364992"/>
            <a:ext cx="36576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7587"/>
                </a:solidFill>
                <a:latin typeface="Aptos"/>
              </a:rPr>
              <a:t>Orders and water entries can be paid in part.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4041648"/>
            <a:ext cx="1828800" cy="2468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7192B"/>
                </a:solidFill>
                <a:latin typeface="Aptos"/>
              </a:rPr>
              <a:t>FIFO allocation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480560"/>
            <a:ext cx="1554480" cy="475488"/>
          </a:xfrm>
          <a:prstGeom prst="round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4636008"/>
            <a:ext cx="1389888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74A6"/>
                </a:solidFill>
                <a:latin typeface="Aptos"/>
              </a:rPr>
              <a:t>General payment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97480" y="4718304"/>
            <a:ext cx="338328" cy="0"/>
          </a:xfrm>
          <a:prstGeom prst="line">
            <a:avLst/>
          </a:prstGeom>
          <a:ln w="20320">
            <a:solidFill>
              <a:srgbClr val="127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evron 24"/>
          <p:cNvSpPr/>
          <p:nvPr/>
        </p:nvSpPr>
        <p:spPr>
          <a:xfrm>
            <a:off x="2871216" y="4608576"/>
            <a:ext cx="219456" cy="219456"/>
          </a:xfrm>
          <a:prstGeom prst="chevron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127248" y="4480560"/>
            <a:ext cx="1078992" cy="475488"/>
          </a:xfrm>
          <a:prstGeom prst="roundRect">
            <a:avLst/>
          </a:prstGeom>
          <a:solidFill>
            <a:srgbClr val="FFF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82112" y="4562856"/>
            <a:ext cx="969264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42B3D"/>
                </a:solidFill>
                <a:latin typeface="Aptos"/>
              </a:rPr>
              <a:t>Oldest unpaid
orders first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51960" y="4718304"/>
            <a:ext cx="283464" cy="0"/>
          </a:xfrm>
          <a:prstGeom prst="line">
            <a:avLst/>
          </a:prstGeom>
          <a:ln w="20320">
            <a:solidFill>
              <a:srgbClr val="127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evron 28"/>
          <p:cNvSpPr/>
          <p:nvPr/>
        </p:nvSpPr>
        <p:spPr>
          <a:xfrm>
            <a:off x="4379976" y="4608576"/>
            <a:ext cx="219456" cy="219456"/>
          </a:xfrm>
          <a:prstGeom prst="chevron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17720" y="4480560"/>
            <a:ext cx="1005840" cy="475488"/>
          </a:xfrm>
          <a:prstGeom prst="roundRect">
            <a:avLst/>
          </a:prstGeom>
          <a:solidFill>
            <a:srgbClr val="E4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4562856"/>
            <a:ext cx="914400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42B3D"/>
                </a:solidFill>
                <a:latin typeface="Aptos"/>
              </a:rPr>
              <a:t>Then older
water entries</a:t>
            </a:r>
          </a:p>
        </p:txBody>
      </p:sp>
      <p:sp>
        <p:nvSpPr>
          <p:cNvPr id="32" name="Oval 31"/>
          <p:cNvSpPr/>
          <p:nvPr/>
        </p:nvSpPr>
        <p:spPr>
          <a:xfrm>
            <a:off x="6501384" y="2999232"/>
            <a:ext cx="420624" cy="420624"/>
          </a:xfrm>
          <a:prstGeom prst="ellipse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1384" y="3081528"/>
            <a:ext cx="420624" cy="1645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74A6"/>
                </a:solidFill>
                <a:latin typeface="Aptos Display"/>
              </a:rPr>
              <a:t>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5744" y="3035808"/>
            <a:ext cx="3749039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192B"/>
                </a:solidFill>
                <a:latin typeface="Aptos"/>
              </a:rPr>
              <a:t>Stock updates with lifecycle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5744" y="3364992"/>
            <a:ext cx="3657600" cy="34747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7587"/>
                </a:solidFill>
                <a:latin typeface="Aptos"/>
              </a:rPr>
              <a:t>Supported order and water-entry actions can update stock.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9672" y="4160520"/>
            <a:ext cx="4544568" cy="777240"/>
          </a:xfrm>
          <a:prstGeom prst="roundRect">
            <a:avLst/>
          </a:prstGeom>
          <a:solidFill>
            <a:srgbClr val="FF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48272" y="4370832"/>
            <a:ext cx="9144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D6E5D"/>
                </a:solidFill>
                <a:latin typeface="Aptos"/>
              </a:rPr>
              <a:t>CAUTION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2672" y="4288536"/>
            <a:ext cx="3154680" cy="4297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B3D"/>
                </a:solidFill>
                <a:latin typeface="Aptos"/>
              </a:rPr>
              <a:t>Review cancellation or deletion effects before changing real records.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71600" y="5669280"/>
            <a:ext cx="9372600" cy="457200"/>
          </a:xfrm>
          <a:prstGeom prst="roundRect">
            <a:avLst/>
          </a:prstGeom>
          <a:solidFill>
            <a:srgbClr val="0D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27632" y="5824728"/>
            <a:ext cx="15544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C7D3"/>
                </a:solidFill>
                <a:latin typeface="Aptos"/>
              </a:rPr>
              <a:t>WHATSAPP ORDERS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36976" y="5779008"/>
            <a:ext cx="70866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Deep links prefill a message; a person reviews the details and sends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25146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402336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TECHNICAL OVERVIEW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76072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7498079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F7587"/>
                </a:solidFill>
                <a:latin typeface="Aptos"/>
              </a:rPr>
              <a:t>BUSINESS MANAGEMENT SYSTEM  •  PRODUCT / OPERATIONS / 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37376"/>
            <a:ext cx="7955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06  /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6025064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7192B"/>
                </a:solidFill>
                <a:latin typeface="Aptos Display"/>
              </a:rPr>
              <a:t>Technology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72184"/>
            <a:ext cx="1060704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587"/>
                </a:solidFill>
                <a:latin typeface="Aptos"/>
              </a:rPr>
              <a:t>High-level stack recorded in the repository documentation—not a production health certification.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148840"/>
            <a:ext cx="285292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148840"/>
            <a:ext cx="68580" cy="1024128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350008"/>
            <a:ext cx="2395728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74A6"/>
                </a:solidFill>
                <a:latin typeface="Aptos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60904"/>
            <a:ext cx="2441448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192B"/>
                </a:solidFill>
                <a:latin typeface="Aptos Display"/>
              </a:rPr>
              <a:t>React 19  •  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148840"/>
            <a:ext cx="285292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2148840"/>
            <a:ext cx="68580" cy="1024128"/>
          </a:xfrm>
          <a:prstGeom prst="rect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350008"/>
            <a:ext cx="2395728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8CDA4"/>
                </a:solidFill>
                <a:latin typeface="Aptos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660904"/>
            <a:ext cx="2441448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192B"/>
                </a:solidFill>
                <a:latin typeface="Aptos Display"/>
              </a:rPr>
              <a:t>Node.js  •  Express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2148840"/>
            <a:ext cx="285292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58200" y="2148840"/>
            <a:ext cx="68580" cy="1024128"/>
          </a:xfrm>
          <a:prstGeom prst="rect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350008"/>
            <a:ext cx="2395728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B73D"/>
                </a:solidFill>
                <a:latin typeface="Aptos"/>
              </a:rP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660904"/>
            <a:ext cx="2441448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192B"/>
                </a:solidFill>
                <a:latin typeface="Aptos Display"/>
              </a:rPr>
              <a:t>PostgreSQL / JSON fallback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67328" y="2660904"/>
            <a:ext cx="694944" cy="0"/>
          </a:xfrm>
          <a:prstGeom prst="line">
            <a:avLst/>
          </a:prstGeom>
          <a:ln w="25400">
            <a:solidFill>
              <a:srgbClr val="87A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4270248" y="2551176"/>
            <a:ext cx="228600" cy="228600"/>
          </a:xfrm>
          <a:prstGeom prst="chevron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562088" y="2660904"/>
            <a:ext cx="694943" cy="0"/>
          </a:xfrm>
          <a:prstGeom prst="line">
            <a:avLst/>
          </a:prstGeom>
          <a:ln w="25400">
            <a:solidFill>
              <a:srgbClr val="87A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8065008" y="2551176"/>
            <a:ext cx="228600" cy="228600"/>
          </a:xfrm>
          <a:prstGeom prst="chevron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02168" y="3493008"/>
            <a:ext cx="1664208" cy="768096"/>
          </a:xfrm>
          <a:prstGeom prst="round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3675887"/>
            <a:ext cx="13716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74A6"/>
                </a:solidFill>
                <a:latin typeface="Aptos"/>
              </a:rPr>
              <a:t>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913632"/>
            <a:ext cx="1463040" cy="1737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B3D"/>
                </a:solidFill>
                <a:latin typeface="Aptos"/>
              </a:rPr>
              <a:t>PostgreSQL via pg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3493008"/>
            <a:ext cx="1481328" cy="768096"/>
          </a:xfrm>
          <a:prstGeom prst="roundRect">
            <a:avLst/>
          </a:prstGeom>
          <a:solidFill>
            <a:srgbClr val="FFF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94976" y="3675887"/>
            <a:ext cx="132588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B73D"/>
                </a:solidFill>
                <a:latin typeface="Aptos"/>
              </a:rPr>
              <a:t>When configured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76688" y="3913632"/>
            <a:ext cx="137160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42B3D"/>
                </a:solidFill>
                <a:latin typeface="Aptos"/>
              </a:rPr>
              <a:t>Local JSON fallback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93808" y="3172968"/>
            <a:ext cx="0" cy="164592"/>
          </a:xfrm>
          <a:prstGeom prst="line">
            <a:avLst/>
          </a:prstGeom>
          <a:ln w="1905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34272" y="3337560"/>
            <a:ext cx="1728216" cy="0"/>
          </a:xfrm>
          <a:prstGeom prst="line">
            <a:avLst/>
          </a:prstGeom>
          <a:ln w="1905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034272" y="3337560"/>
            <a:ext cx="0" cy="155448"/>
          </a:xfrm>
          <a:prstGeom prst="line">
            <a:avLst/>
          </a:prstGeom>
          <a:ln w="1905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762488" y="3337560"/>
            <a:ext cx="0" cy="155448"/>
          </a:xfrm>
          <a:prstGeom prst="line">
            <a:avLst/>
          </a:prstGeom>
          <a:ln w="1905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68680" y="4681728"/>
            <a:ext cx="3456432" cy="914400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" y="4873752"/>
            <a:ext cx="301752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74A6"/>
                </a:solidFill>
                <a:latin typeface="Aptos"/>
              </a:rPr>
              <a:t>AUTHENTICATION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" y="5166360"/>
            <a:ext cx="2999232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JWT bearer tokens • bcryptjs hashing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4681728"/>
            <a:ext cx="3456432" cy="914400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64608" y="4873752"/>
            <a:ext cx="301752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8CDA4"/>
                </a:solidFill>
                <a:latin typeface="Aptos"/>
              </a:rPr>
              <a:t>HOSTING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64608" y="5166360"/>
            <a:ext cx="2999232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Vercel static frontend • serverless Express API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58200" y="4681728"/>
            <a:ext cx="3456432" cy="914400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59368" y="4873752"/>
            <a:ext cx="301752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B73D"/>
                </a:solidFill>
                <a:latin typeface="Aptos"/>
              </a:rPr>
              <a:t>QUALITY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59368" y="5166360"/>
            <a:ext cx="2999232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Node.js built-in tests • Oxlint frontend linting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65960" y="5870448"/>
            <a:ext cx="8321040" cy="347472"/>
          </a:xfrm>
          <a:prstGeom prst="roundRect">
            <a:avLst/>
          </a:prstGeom>
          <a:solidFill>
            <a:srgbClr val="FF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48840" y="5971032"/>
            <a:ext cx="7955279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D6E5D"/>
                </a:solidFill>
                <a:latin typeface="Aptos"/>
              </a:rPr>
              <a:t>Persistence depends on the active environment configuration. Verify before relying on saved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25146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402336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DOCUMENTATION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76072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7498079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F7587"/>
                </a:solidFill>
                <a:latin typeface="Aptos"/>
              </a:rPr>
              <a:t>BUSINESS MANAGEMENT SYSTEM  •  PRODUCT / OPERATIONS / 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37376"/>
            <a:ext cx="7955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07  /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7029242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7192B"/>
                </a:solidFill>
                <a:latin typeface="Aptos Display"/>
              </a:rPr>
              <a:t>Repository &amp;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72184"/>
            <a:ext cx="1060704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587"/>
                </a:solidFill>
                <a:latin typeface="Aptos"/>
              </a:rPr>
              <a:t>A clear route from the project overview to operator guidance and technical references.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057400"/>
            <a:ext cx="3703320" cy="3950208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31720"/>
            <a:ext cx="210312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C7D3"/>
                </a:solidFill>
                <a:latin typeface="Aptos"/>
              </a:rPr>
              <a:t>PROJECT ROOT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1828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C7D3"/>
                </a:solidFill>
                <a:latin typeface="Aptos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788920"/>
            <a:ext cx="28529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README.md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99815"/>
            <a:ext cx="1828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8CDA4"/>
                </a:solidFill>
                <a:latin typeface="Aptos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099815"/>
            <a:ext cx="28529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docs/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10712"/>
            <a:ext cx="1828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B73D"/>
                </a:solidFill>
                <a:latin typeface="Aptos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410712"/>
            <a:ext cx="28529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  index.md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21608"/>
            <a:ext cx="1828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B73D"/>
                </a:solidFill>
                <a:latin typeface="Aptos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721608"/>
            <a:ext cx="28529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  user-guide.md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032504"/>
            <a:ext cx="1828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B73D"/>
                </a:solidFill>
                <a:latin typeface="Aptos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032504"/>
            <a:ext cx="28529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  features.md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343400"/>
            <a:ext cx="1828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B73D"/>
                </a:solidFill>
                <a:latin typeface="Aptos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343400"/>
            <a:ext cx="28529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  system-architecture.md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654296"/>
            <a:ext cx="1828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B73D"/>
                </a:solidFill>
                <a:latin typeface="Aptos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4654296"/>
            <a:ext cx="28529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  database-design.md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65192"/>
            <a:ext cx="1828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B73D"/>
                </a:solidFill>
                <a:latin typeface="Aptos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4965192"/>
            <a:ext cx="28529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  api-reference.md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276088"/>
            <a:ext cx="1828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B73D"/>
                </a:solidFill>
                <a:latin typeface="Aptos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5276088"/>
            <a:ext cx="28529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  deployment-guide.md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73168" y="2057400"/>
            <a:ext cx="6620256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73168" y="2057400"/>
            <a:ext cx="54864" cy="78638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2176272"/>
            <a:ext cx="1874519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74A6"/>
                </a:solidFill>
                <a:latin typeface="Aptos"/>
              </a:rPr>
              <a:t>START 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176272"/>
            <a:ext cx="434340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07192B"/>
                </a:solidFill>
                <a:latin typeface="Aptos"/>
              </a:rPr>
              <a:t>README.md • docs/index.md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2468880"/>
            <a:ext cx="598932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F7587"/>
                </a:solidFill>
                <a:latin typeface="Aptos"/>
              </a:rPr>
              <a:t>Project overview, capabilities and the documentation index.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73168" y="3008376"/>
            <a:ext cx="6620256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73168" y="3008376"/>
            <a:ext cx="54864" cy="786384"/>
          </a:xfrm>
          <a:prstGeom prst="rect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0" y="3127248"/>
            <a:ext cx="1874519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8CDA4"/>
                </a:solidFill>
                <a:latin typeface="Aptos"/>
              </a:rPr>
              <a:t>OPERATE THE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3127248"/>
            <a:ext cx="434340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07192B"/>
                </a:solidFill>
                <a:latin typeface="Aptos"/>
              </a:rPr>
              <a:t>docs/user-guide.md • docs/features.md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3419856"/>
            <a:ext cx="598932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F7587"/>
                </a:solidFill>
                <a:latin typeface="Aptos"/>
              </a:rPr>
              <a:t>Documented workflows and feature descriptions for operators.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73168" y="3959352"/>
            <a:ext cx="6620256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73168" y="3959352"/>
            <a:ext cx="54864" cy="786384"/>
          </a:xfrm>
          <a:prstGeom prst="rect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0" y="4078224"/>
            <a:ext cx="1874519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B73D"/>
                </a:solidFill>
                <a:latin typeface="Aptos"/>
              </a:rPr>
              <a:t>UNDERSTAND THE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078224"/>
            <a:ext cx="434340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07192B"/>
                </a:solidFill>
                <a:latin typeface="Aptos"/>
              </a:rPr>
              <a:t>docs/system-architecture.md • docs/database-design.md • docs/api-reference.md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4370832"/>
            <a:ext cx="598932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F7587"/>
                </a:solidFill>
                <a:latin typeface="Aptos"/>
              </a:rPr>
              <a:t>Architecture, data design and API reference.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73168" y="4910328"/>
            <a:ext cx="6620256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73168" y="4910328"/>
            <a:ext cx="54864" cy="786384"/>
          </a:xfrm>
          <a:prstGeom prst="rect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0" y="5029200"/>
            <a:ext cx="1874519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D6E5D"/>
                </a:solidFill>
                <a:latin typeface="Aptos"/>
              </a:rPr>
              <a:t>BUILD &amp; MAINTAIN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5029200"/>
            <a:ext cx="434340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07192B"/>
                </a:solidFill>
                <a:latin typeface="Aptos"/>
              </a:rPr>
              <a:t>docs/local-development.md • docs/deployment-guide.md • docs/testing-and-validation.md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5321808"/>
            <a:ext cx="598932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F7587"/>
                </a:solidFill>
                <a:latin typeface="Aptos"/>
              </a:rPr>
              <a:t>Local setup, deployment steps, testing and validation.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73168" y="5989320"/>
            <a:ext cx="6620256" cy="310896"/>
          </a:xfrm>
          <a:prstGeom prst="round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56048" y="6071616"/>
            <a:ext cx="6245352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74A6"/>
                </a:solidFill>
                <a:latin typeface="Aptos"/>
              </a:rPr>
              <a:t>Website documentation  •  ocean-enterprises.vercel.app/docs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25146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402336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DEVELOPER SETUP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76072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7498079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F7587"/>
                </a:solidFill>
                <a:latin typeface="Aptos"/>
              </a:rPr>
              <a:t>BUSINESS MANAGEMENT SYSTEM  •  PRODUCT / OPERATIONS / 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37376"/>
            <a:ext cx="7955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08  /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8033419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7192B"/>
                </a:solidFill>
                <a:latin typeface="Aptos Display"/>
              </a:rPr>
              <a:t>Local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72184"/>
            <a:ext cx="1060704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587"/>
                </a:solidFill>
                <a:latin typeface="Aptos"/>
              </a:rPr>
              <a:t>Use the repository instructions to set up, run, test and build the application.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240279"/>
            <a:ext cx="502920" cy="502920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04872"/>
            <a:ext cx="502920" cy="1371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221991"/>
            <a:ext cx="274320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7192B"/>
                </a:solidFill>
                <a:latin typeface="Aptos Display"/>
              </a:rPr>
              <a:t>Clone &amp; install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560320"/>
            <a:ext cx="2816352" cy="4206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F7587"/>
                </a:solidFill>
                <a:latin typeface="Aptos"/>
              </a:rPr>
              <a:t>Clone the repository and install root and client dependencies.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02152"/>
            <a:ext cx="502920" cy="1371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3319272"/>
            <a:ext cx="274320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7192B"/>
                </a:solidFill>
                <a:latin typeface="Aptos Display"/>
              </a:rPr>
              <a:t>Configure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657600"/>
            <a:ext cx="2816352" cy="4206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F7587"/>
                </a:solidFill>
                <a:latin typeface="Aptos"/>
              </a:rPr>
              <a:t>Use .env.example as reference; keep real credentials private.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99431"/>
            <a:ext cx="502920" cy="1371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4416551"/>
            <a:ext cx="274320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7192B"/>
                </a:solidFill>
                <a:latin typeface="Aptos Display"/>
              </a:rPr>
              <a:t>Run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4754879"/>
            <a:ext cx="2816352" cy="4206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F7587"/>
                </a:solidFill>
                <a:latin typeface="Aptos"/>
              </a:rPr>
              <a:t>Run the test suite and build before deployment.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075688"/>
            <a:ext cx="6629400" cy="3840480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54880" y="2075688"/>
            <a:ext cx="6629400" cy="502920"/>
          </a:xfrm>
          <a:prstGeom prst="roundRect">
            <a:avLst/>
          </a:prstGeom>
          <a:solidFill>
            <a:srgbClr val="143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10912" y="2240280"/>
            <a:ext cx="91440" cy="91440"/>
          </a:xfrm>
          <a:prstGeom prst="ellipse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80" y="2240280"/>
            <a:ext cx="91440" cy="91440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13248" y="2240280"/>
            <a:ext cx="91440" cy="91440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87568" y="2231136"/>
            <a:ext cx="3383280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AD3E4"/>
                </a:solidFill>
                <a:latin typeface="Aptos"/>
              </a:rPr>
              <a:t>COMMAND CHEAT SHEET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2852928"/>
            <a:ext cx="1600200" cy="1920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BC4D6"/>
                </a:solidFill>
                <a:latin typeface="Aptos"/>
              </a:rP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2843784"/>
            <a:ext cx="384048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7D3"/>
                </a:solidFill>
                <a:latin typeface="Aptos"/>
              </a:rPr>
              <a:t>npm start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166360" y="3218688"/>
            <a:ext cx="5760720" cy="0"/>
          </a:xfrm>
          <a:prstGeom prst="line">
            <a:avLst/>
          </a:prstGeom>
          <a:ln w="8890">
            <a:solidFill>
              <a:srgbClr val="274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66360" y="3456432"/>
            <a:ext cx="1600200" cy="1920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BC4D6"/>
                </a:solidFill>
                <a:latin typeface="Aptos"/>
              </a:rPr>
              <a:t>Frontend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3447288"/>
            <a:ext cx="384048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7D3"/>
                </a:solidFill>
                <a:latin typeface="Aptos"/>
              </a:rPr>
              <a:t>npm run dev:client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166360" y="3822192"/>
            <a:ext cx="5760720" cy="0"/>
          </a:xfrm>
          <a:prstGeom prst="line">
            <a:avLst/>
          </a:prstGeom>
          <a:ln w="8890">
            <a:solidFill>
              <a:srgbClr val="274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166360" y="4059936"/>
            <a:ext cx="1600200" cy="1920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BC4D6"/>
                </a:solidFill>
                <a:latin typeface="Aptos"/>
              </a:rPr>
              <a:t>Automated 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4050792"/>
            <a:ext cx="384048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npm test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166360" y="4425696"/>
            <a:ext cx="5760720" cy="0"/>
          </a:xfrm>
          <a:prstGeom prst="line">
            <a:avLst/>
          </a:prstGeom>
          <a:ln w="8890">
            <a:solidFill>
              <a:srgbClr val="274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166360" y="4663440"/>
            <a:ext cx="1600200" cy="1920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BC4D6"/>
                </a:solidFill>
                <a:latin typeface="Aptos"/>
              </a:rPr>
              <a:t>Frontend build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4654296"/>
            <a:ext cx="3840480" cy="23774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npm run 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5440680"/>
            <a:ext cx="566928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A4BFD3"/>
                </a:solidFill>
                <a:latin typeface="Aptos"/>
              </a:rPr>
              <a:t>Run these commands from the project root, as documented in the repository.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25146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402336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SECURITY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76072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7498079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F7587"/>
                </a:solidFill>
                <a:latin typeface="Aptos"/>
              </a:rPr>
              <a:t>BUSINESS MANAGEMENT SYSTEM  •  PRODUCT / OPERATIONS / 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37376"/>
            <a:ext cx="7955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09  /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9037597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7192B"/>
                </a:solidFill>
                <a:latin typeface="Aptos Display"/>
              </a:rPr>
              <a:t>Security &amp; Responsible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72184"/>
            <a:ext cx="1060704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587"/>
                </a:solidFill>
                <a:latin typeface="Aptos"/>
              </a:rPr>
              <a:t>Protect business records and customer information throughout daily operation.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084831"/>
            <a:ext cx="3072384" cy="3840480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entagon 11"/>
          <p:cNvSpPr/>
          <p:nvPr/>
        </p:nvSpPr>
        <p:spPr>
          <a:xfrm>
            <a:off x="1627632" y="2514600"/>
            <a:ext cx="1115568" cy="1115568"/>
          </a:xfrm>
          <a:prstGeom prst="homePlate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entagon 12"/>
          <p:cNvSpPr/>
          <p:nvPr/>
        </p:nvSpPr>
        <p:spPr>
          <a:xfrm>
            <a:off x="1792224" y="2670048"/>
            <a:ext cx="786384" cy="786384"/>
          </a:xfrm>
          <a:prstGeom prst="homePlate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92224" y="2907792"/>
            <a:ext cx="786384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3995928"/>
            <a:ext cx="246888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C7D3"/>
                </a:solidFill>
                <a:latin typeface="Aptos"/>
              </a:rPr>
              <a:t>SAFE BY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07408"/>
            <a:ext cx="2423160" cy="9144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 Display"/>
              </a:rPr>
              <a:t>Treat every real record
and credential as
production data.</a:t>
            </a:r>
          </a:p>
        </p:txBody>
      </p:sp>
      <p:sp>
        <p:nvSpPr>
          <p:cNvPr id="17" name="Oval 16"/>
          <p:cNvSpPr/>
          <p:nvPr/>
        </p:nvSpPr>
        <p:spPr>
          <a:xfrm>
            <a:off x="4251960" y="2176272"/>
            <a:ext cx="329184" cy="329184"/>
          </a:xfrm>
          <a:prstGeom prst="ellipse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267712"/>
            <a:ext cx="329184" cy="1097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148840"/>
            <a:ext cx="29718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7192B"/>
                </a:solidFill>
                <a:latin typeface="Aptos Display"/>
              </a:rPr>
              <a:t>Keep secrets private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139696"/>
            <a:ext cx="342900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F7587"/>
                </a:solidFill>
                <a:latin typeface="Aptos"/>
              </a:rPr>
              <a:t>Never commit .env files, database URLs, JWT secrets or credentials.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73168" y="2706624"/>
            <a:ext cx="6336792" cy="0"/>
          </a:xfrm>
          <a:prstGeom prst="line">
            <a:avLst/>
          </a:prstGeom>
          <a:ln w="889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251960" y="2935224"/>
            <a:ext cx="329184" cy="329184"/>
          </a:xfrm>
          <a:prstGeom prst="ellipse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3026664"/>
            <a:ext cx="329184" cy="1097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2907792"/>
            <a:ext cx="29718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7192B"/>
                </a:solidFill>
                <a:latin typeface="Aptos Display"/>
              </a:rPr>
              <a:t>Harden production authentication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898648"/>
            <a:ext cx="342900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F7587"/>
                </a:solidFill>
                <a:latin typeface="Aptos"/>
              </a:rPr>
              <a:t>Use a strong, unique JWT secret in production.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73168" y="3465576"/>
            <a:ext cx="6336792" cy="0"/>
          </a:xfrm>
          <a:prstGeom prst="line">
            <a:avLst/>
          </a:prstGeom>
          <a:ln w="889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251960" y="3694176"/>
            <a:ext cx="329184" cy="329184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3785615"/>
            <a:ext cx="329184" cy="1097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3666744"/>
            <a:ext cx="29718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7192B"/>
                </a:solidFill>
                <a:latin typeface="Aptos Display"/>
              </a:rPr>
              <a:t>Protect customer privacy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657599"/>
            <a:ext cx="342900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F7587"/>
                </a:solidFill>
                <a:latin typeface="Aptos"/>
              </a:rPr>
              <a:t>Avoid exposing customer records or payment details in public screenshots.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73168" y="4224527"/>
            <a:ext cx="6336792" cy="0"/>
          </a:xfrm>
          <a:prstGeom prst="line">
            <a:avLst/>
          </a:prstGeom>
          <a:ln w="889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251960" y="4453128"/>
            <a:ext cx="329184" cy="329184"/>
          </a:xfrm>
          <a:prstGeom prst="ellipse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4544568"/>
            <a:ext cx="329184" cy="1097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4425696"/>
            <a:ext cx="29718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7192B"/>
                </a:solidFill>
                <a:latin typeface="Aptos Display"/>
              </a:rPr>
              <a:t>Verify before saving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4416552"/>
            <a:ext cx="342900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F7587"/>
                </a:solidFill>
                <a:latin typeface="Aptos"/>
              </a:rPr>
              <a:t>Review parsed order details and payment amounts.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773168" y="4983479"/>
            <a:ext cx="6336792" cy="0"/>
          </a:xfrm>
          <a:prstGeom prst="line">
            <a:avLst/>
          </a:prstGeom>
          <a:ln w="889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251960" y="5212080"/>
            <a:ext cx="329184" cy="329184"/>
          </a:xfrm>
          <a:prstGeom prst="ellipse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1960" y="5303520"/>
            <a:ext cx="329184" cy="1097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5184648"/>
            <a:ext cx="29718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7192B"/>
                </a:solidFill>
                <a:latin typeface="Aptos Display"/>
              </a:rPr>
              <a:t>Back up and validate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5175504"/>
            <a:ext cx="3429000" cy="3840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F7587"/>
                </a:solidFill>
                <a:latin typeface="Aptos"/>
              </a:rPr>
              <a:t>Back up before migrations or destructive maintenance. Documentation alone does not prove production health.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25146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74A6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402336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F7587"/>
                </a:solidFill>
                <a:latin typeface="Aptos"/>
              </a:rPr>
              <a:t>SUPPORT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76072"/>
            <a:ext cx="11064240" cy="0"/>
          </a:xfrm>
          <a:prstGeom prst="line">
            <a:avLst/>
          </a:prstGeom>
          <a:ln w="1016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7498079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5F7587"/>
                </a:solidFill>
                <a:latin typeface="Aptos"/>
              </a:rPr>
              <a:t>BUSINESS MANAGEMENT SYSTEM  •  PRODUCT / OPERATIONS / 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37376"/>
            <a:ext cx="7955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F7587"/>
                </a:solidFill>
                <a:latin typeface="Aptos Display"/>
              </a:rPr>
              <a:t>10  /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D9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10041774" cy="32004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932688"/>
            <a:ext cx="10789920" cy="4846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7192B"/>
                </a:solidFill>
                <a:latin typeface="Aptos Display"/>
              </a:rPr>
              <a:t>Support &amp; Troubleshooting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472184"/>
            <a:ext cx="10607040" cy="3108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587"/>
                </a:solidFill>
                <a:latin typeface="Aptos"/>
              </a:rPr>
              <a:t>Start with a focused first check before changing configuration or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2057400"/>
            <a:ext cx="10652760" cy="493776"/>
          </a:xfrm>
          <a:prstGeom prst="roundRect">
            <a:avLst/>
          </a:prstGeom>
          <a:solidFill>
            <a:srgbClr val="07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21992"/>
            <a:ext cx="205740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C7D3"/>
                </a:solidFill>
                <a:latin typeface="Aptos"/>
              </a:rPr>
              <a:t>ISSUE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221992"/>
            <a:ext cx="7132320" cy="1463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C7D3"/>
                </a:solidFill>
                <a:latin typeface="Aptos"/>
              </a:rPr>
              <a:t>FIRST 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" y="2679192"/>
            <a:ext cx="10652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" y="2679192"/>
            <a:ext cx="50292" cy="566928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843784"/>
            <a:ext cx="205740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7192B"/>
                </a:solidFill>
                <a:latin typeface="Aptos"/>
              </a:rPr>
              <a:t>Login issue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843784"/>
            <a:ext cx="75438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42B3D"/>
                </a:solidFill>
                <a:latin typeface="Aptos"/>
              </a:rPr>
              <a:t>Verify the registered identifier and password; inspect logs safely.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8096" y="3246120"/>
            <a:ext cx="10652760" cy="0"/>
          </a:xfrm>
          <a:prstGeom prst="line">
            <a:avLst/>
          </a:prstGeom>
          <a:ln w="635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68096" y="3246120"/>
            <a:ext cx="10652760" cy="56692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" y="3246120"/>
            <a:ext cx="50292" cy="566928"/>
          </a:xfrm>
          <a:prstGeom prst="rect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410712"/>
            <a:ext cx="205740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7192B"/>
                </a:solidFill>
                <a:latin typeface="Aptos"/>
              </a:rPr>
              <a:t>Database issue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3410712"/>
            <a:ext cx="75438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42B3D"/>
                </a:solidFill>
                <a:latin typeface="Aptos"/>
              </a:rPr>
              <a:t>Verify the environment connection string and connectivity.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8096" y="3813048"/>
            <a:ext cx="10652760" cy="0"/>
          </a:xfrm>
          <a:prstGeom prst="line">
            <a:avLst/>
          </a:prstGeom>
          <a:ln w="635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68096" y="3813048"/>
            <a:ext cx="10652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8096" y="3813048"/>
            <a:ext cx="50292" cy="566928"/>
          </a:xfrm>
          <a:prstGeom prst="rect">
            <a:avLst/>
          </a:prstGeom>
          <a:solidFill>
            <a:srgbClr val="F5B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977639"/>
            <a:ext cx="205740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7192B"/>
                </a:solidFill>
                <a:latin typeface="Aptos"/>
              </a:rPr>
              <a:t>Persistence 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3977639"/>
            <a:ext cx="75438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42B3D"/>
                </a:solidFill>
                <a:latin typeface="Aptos"/>
              </a:rPr>
              <a:t>Confirm whether PostgreSQL or the local JSON fallback is active.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379976"/>
            <a:ext cx="10652760" cy="0"/>
          </a:xfrm>
          <a:prstGeom prst="line">
            <a:avLst/>
          </a:prstGeom>
          <a:ln w="635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68096" y="4379976"/>
            <a:ext cx="10652760" cy="566928"/>
          </a:xfrm>
          <a:prstGeom prst="rect">
            <a:avLst/>
          </a:prstGeom>
          <a:solidFill>
            <a:srgbClr val="F0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8096" y="4379976"/>
            <a:ext cx="50292" cy="566928"/>
          </a:xfrm>
          <a:prstGeom prst="rect">
            <a:avLst/>
          </a:prstGeom>
          <a:solidFill>
            <a:srgbClr val="ED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544568"/>
            <a:ext cx="205740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7192B"/>
                </a:solidFill>
                <a:latin typeface="Aptos"/>
              </a:rPr>
              <a:t>Build issue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1568" y="4544568"/>
            <a:ext cx="75438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42B3D"/>
                </a:solidFill>
                <a:latin typeface="Aptos"/>
              </a:rPr>
              <a:t>Install dependencies and resolve the first meaningful build error.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68096" y="4946904"/>
            <a:ext cx="10652760" cy="0"/>
          </a:xfrm>
          <a:prstGeom prst="line">
            <a:avLst/>
          </a:prstGeom>
          <a:ln w="635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68096" y="4946904"/>
            <a:ext cx="10652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8096" y="4946904"/>
            <a:ext cx="50292" cy="566928"/>
          </a:xfrm>
          <a:prstGeom prst="rect">
            <a:avLst/>
          </a:prstGeom>
          <a:solidFill>
            <a:srgbClr val="12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111496"/>
            <a:ext cx="205740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7192B"/>
                </a:solidFill>
                <a:latin typeface="Aptos"/>
              </a:rPr>
              <a:t>GPS issue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1568" y="5111496"/>
            <a:ext cx="75438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42B3D"/>
                </a:solidFill>
                <a:latin typeface="Aptos"/>
              </a:rPr>
              <a:t>Allow browser location access and confirm usable coordinates.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68096" y="5513832"/>
            <a:ext cx="10652760" cy="0"/>
          </a:xfrm>
          <a:prstGeom prst="line">
            <a:avLst/>
          </a:prstGeom>
          <a:ln w="6350">
            <a:solidFill>
              <a:srgbClr val="D9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148840" y="5806440"/>
            <a:ext cx="8092440" cy="438912"/>
          </a:xfrm>
          <a:prstGeom prst="round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31720" y="5934456"/>
            <a:ext cx="7726679" cy="1645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74A6"/>
                </a:solidFill>
                <a:latin typeface="Aptos"/>
              </a:rPr>
              <a:t>Detailed guidance:  docs/troubleshooting.md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251460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C7D3"/>
                </a:solidFill>
                <a:latin typeface="Aptos Display"/>
              </a:rPr>
              <a:t>OCEAN  / 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0" y="228600"/>
            <a:ext cx="4023360" cy="21031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6BED0"/>
                </a:solidFill>
                <a:latin typeface="Aptos"/>
              </a:rPr>
              <a:t>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76072"/>
            <a:ext cx="11064240" cy="0"/>
          </a:xfrm>
          <a:prstGeom prst="line">
            <a:avLst/>
          </a:prstGeom>
          <a:ln w="10160">
            <a:solidFill>
              <a:srgbClr val="274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85216" y="6473952"/>
            <a:ext cx="7498079" cy="15544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6BED0"/>
                </a:solidFill>
                <a:latin typeface="Aptos"/>
              </a:rPr>
              <a:t>BUSINESS MANAGEMENT SYSTEM  •  PRODUCT / OPERATIONS / 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437376"/>
            <a:ext cx="795528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6BED0"/>
                </a:solidFill>
                <a:latin typeface="Aptos Display"/>
              </a:rPr>
              <a:t>11  /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27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6739128"/>
            <a:ext cx="11045952" cy="32004"/>
          </a:xfrm>
          <a:prstGeom prst="rect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078992"/>
            <a:ext cx="6583680" cy="24688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C7D3"/>
                </a:solidFill>
                <a:latin typeface="Aptos"/>
              </a:rPr>
              <a:t>DOCUMENTATION THAT SUPPORTS THE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536192"/>
            <a:ext cx="5760720" cy="12344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ptos Display"/>
              </a:rPr>
              <a:t>Find the right guide.
Make the next step clear.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5440680" cy="6035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ED3E4"/>
                </a:solidFill>
                <a:latin typeface="Aptos"/>
              </a:rPr>
              <a:t>Use the website for quick access, or the repository for the full source documentation.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481328"/>
            <a:ext cx="4681728" cy="1298448"/>
          </a:xfrm>
          <a:prstGeom prst="roundRect">
            <a:avLst/>
          </a:prstGeom>
          <a:solidFill>
            <a:srgbClr val="0D2B43"/>
          </a:solidFill>
          <a:ln w="10160">
            <a:solidFill>
              <a:srgbClr val="2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84848" y="1801368"/>
            <a:ext cx="438912" cy="438912"/>
          </a:xfrm>
          <a:prstGeom prst="ellipse">
            <a:avLst/>
          </a:prstGeom>
          <a:solidFill>
            <a:srgbClr val="1FC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1911095"/>
            <a:ext cx="438912" cy="1645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192B"/>
                </a:solidFill>
                <a:latin typeface="Aptos Display"/>
              </a:rPr>
              <a:t>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1700784"/>
            <a:ext cx="3108960" cy="1920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C7D3"/>
                </a:solidFill>
                <a:latin typeface="Aptos"/>
              </a:rPr>
              <a:t>WEBSITE DOCUMENTATION</a:t>
            </a:r>
          </a:p>
        </p:txBody>
      </p:sp>
      <p:sp>
        <p:nvSpPr>
          <p:cNvPr id="16" name="TextBox 15">
            <a:hlinkClick r:id="rId2"/>
          </p:cNvPr>
          <p:cNvSpPr txBox="1"/>
          <p:nvPr/>
        </p:nvSpPr>
        <p:spPr>
          <a:xfrm>
            <a:off x="7424927" y="2048256"/>
            <a:ext cx="3337560" cy="283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ocean-enterprises.vercel.app/docs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063240"/>
            <a:ext cx="4681728" cy="1298448"/>
          </a:xfrm>
          <a:prstGeom prst="roundRect">
            <a:avLst/>
          </a:prstGeom>
          <a:solidFill>
            <a:srgbClr val="0D2B43"/>
          </a:solidFill>
          <a:ln w="10160">
            <a:solidFill>
              <a:srgbClr val="2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84848" y="3383280"/>
            <a:ext cx="438912" cy="438912"/>
          </a:xfrm>
          <a:prstGeom prst="ellipse">
            <a:avLst/>
          </a:prstGeom>
          <a:solidFill>
            <a:srgbClr val="48C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3493008"/>
            <a:ext cx="438912" cy="1645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7192B"/>
                </a:solidFill>
                <a:latin typeface="Aptos Display"/>
              </a:rPr>
              <a:t>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3282696"/>
            <a:ext cx="3108960" cy="1920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8CDA4"/>
                </a:solidFill>
                <a:latin typeface="Aptos"/>
              </a:rPr>
              <a:t>GITHUB REPOSITORY</a:t>
            </a:r>
          </a:p>
        </p:txBody>
      </p:sp>
      <p:sp>
        <p:nvSpPr>
          <p:cNvPr id="21" name="TextBox 20">
            <a:hlinkClick r:id="rId3"/>
          </p:cNvPr>
          <p:cNvSpPr txBox="1"/>
          <p:nvPr/>
        </p:nvSpPr>
        <p:spPr>
          <a:xfrm>
            <a:off x="7424927" y="3621024"/>
            <a:ext cx="3493008" cy="39319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github.com/alicharolia7869/ocean-enterprises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28032"/>
            <a:ext cx="10332720" cy="804672"/>
          </a:xfrm>
          <a:prstGeom prst="roundRect">
            <a:avLst/>
          </a:prstGeom>
          <a:solidFill>
            <a:srgbClr val="0D2B43"/>
          </a:solidFill>
          <a:ln w="10160">
            <a:solidFill>
              <a:srgbClr val="295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093208"/>
            <a:ext cx="1463040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C7D3"/>
                </a:solidFill>
                <a:latin typeface="Aptos"/>
              </a:rPr>
              <a:t>START 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020056"/>
            <a:ext cx="7955279" cy="30175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Open docs/index.md, then follow the operator or developer guide that matches your task.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52744"/>
            <a:ext cx="9692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FBCD0"/>
                </a:solidFill>
                <a:latin typeface="Aptos"/>
              </a:rPr>
              <a:t>This presentation is an overview. Verify implementation details against the current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Enterprises — Premium Documentation Overview</dc:title>
  <dc:subject>Business management system product, operator and technical documentation</dc:subject>
  <dc:creator>Ocean Enterprises</dc:creator>
  <cp:keywords>Ocean Enterprises, documentation, operations, architecture, distribution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